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The user is a fraud investigator (and their supervisor) who starts the day with a queue of engine-referred claims, most of which turn out benign. The job to be done is to decide quickly and defensibly which referrals deserve human time, and on those, to get the evidence, the reasoning and the next step without hunting through dozens of signals.</a:t>
            </a:r>
          </a:p>
          <a:p/>
          <a:p>
            <a:r>
              <a:t>The data shaped the design: three tiers (8 extreme, 9 ambiguous, 33 clean), three 'silent' cases that a flag-counting model would call clean, and one claim number reused across a clean and a critical case. So rules handle the obvious, and AI plus humans spend their time on the ambiguous middle and on cross-case links.</a:t>
            </a:r>
          </a:p>
          <a:p/>
          <a:p>
            <a:r>
              <a:t>DEMO PATH: open the Morning briefing, then a critical case, then C1001 (the linked-claim story).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Not a single LLM call. Deterministic rules score every case first (thresholds come from natural breaks in the data, not guesses). A router with no LLM then sends each case down one of three lanes: 29 clean cases share one cheap batched call, 8 critical cases get a verifier only, and 13 ambiguous cases get the full crew.</a:t>
            </a:r>
          </a:p>
          <a:p/>
          <a:p>
            <a:r>
              <a:t>On the DEEP lane, specialists run in parallel only where their domain fired; an adversarial challenger argues the benign case; a verifier synthesises; a three-persona panel convenes only if the case is contested. Every output then goes through deterministic guardrails.</a:t>
            </a:r>
          </a:p>
          <a:p/>
          <a:p>
            <a:r>
              <a:t>GROUNDING: the model can only move the score by 20 points, the level is derived, every citation is re-checked against the record, and failures are shown as 'LLM unavailable', never invented.</a:t>
            </a:r>
          </a:p>
          <a:p/>
          <a:p>
            <a:r>
              <a:t>MEASURED: 10/10 invariants, 5/5 counterfactual and prompt-injection tests; versus the single-judge baseline, 100% band agreement and 27% fewer tokens. The strong-tier verifier makes reference dollars higher (0.44 vs 0.12), so I do not claim it is cheaper in dollars.</a:t>
            </a:r>
          </a:p>
          <a:p/>
          <a:p>
            <a:r>
              <a:t>DEMO PATH: Investigation trace on C1001 (reused specialist, challenger, panel, and the linked-case floor overruling a -10 vote).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IN THE LOOP. The AI never changes a case's status: every clear, escalation, override and outcome is a human action with a reason, in an audit log. Investigators can see the rule score next to the AI score, check every indicator against its field and value, accept or reject it (rejections are respected next time), and read the agent trace and the guardrail removals.</a:t>
            </a:r>
          </a:p>
          <a:p/>
          <a:p>
            <a:r>
              <a:t>Notes are the investigator's steering wheel: a note changes the next assessment, and deleting a note removes it from the AI's knowledge, the chat context, related-case context and audit text.</a:t>
            </a:r>
          </a:p>
          <a:p/>
          <a:p>
            <a:r>
              <a:t>TRADE-OFFS. No labels means no accuracy claim; backtests use synthetic labels and say so. False negatives are the costliest risk and only discovered misses can be measured, so the next step is a safety net: miss-rate tracking, look-back that reopens cleared lookalikes, an independent adversarial reviewer and audited sampling. I prototyped an anomaly detector and deliberately deferred it because it was unstable at 50 cases.</a:t>
            </a:r>
          </a:p>
          <a:p/>
          <a:p>
            <a:r>
              <a:t>DEMO PATH: add a note, watch the assessment go stale, ask the chatbot about it, delete it; then a Blocklist decline and supervisor override; then the Rules tab backtest.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566928"/>
          </a:xfrm>
          <a:prstGeom prst="rect">
            <a:avLst/>
          </a:prstGeom>
          <a:noFill/>
        </p:spPr>
        <p:txBody>
          <a:bodyPr wrap="square" anchor="t" lIns="0" tIns="0" rIns="0" bIns="0">
            <a:spAutoFit/>
          </a:bodyPr>
          <a:lstStyle/>
          <a:p>
            <a:pPr algn="l">
              <a:lnSpc>
                <a:spcPct val="100000"/>
              </a:lnSpc>
              <a:spcAft>
                <a:spcPts val="0"/>
              </a:spcAft>
            </a:pPr>
            <a:r>
              <a:rPr sz="2500" b="1" i="0">
                <a:solidFill>
                  <a:srgbClr val="1A1F2B"/>
                </a:solidFill>
                <a:latin typeface="Arial"/>
              </a:rPr>
              <a:t>A Junior AI Investigator that triages the queue before a human opens it</a:t>
            </a:r>
          </a:p>
        </p:txBody>
      </p:sp>
      <p:sp>
        <p:nvSpPr>
          <p:cNvPr id="3" name="TextBox 2"/>
          <p:cNvSpPr txBox="1"/>
          <p:nvPr/>
        </p:nvSpPr>
        <p:spPr>
          <a:xfrm>
            <a:off x="457200" y="850392"/>
            <a:ext cx="11247120" cy="292608"/>
          </a:xfrm>
          <a:prstGeom prst="rect">
            <a:avLst/>
          </a:prstGeom>
          <a:noFill/>
        </p:spPr>
        <p:txBody>
          <a:bodyPr wrap="square" anchor="t" lIns="0" tIns="0" rIns="0" bIns="0">
            <a:spAutoFit/>
          </a:bodyPr>
          <a:lstStyle/>
          <a:p>
            <a:pPr algn="l">
              <a:lnSpc>
                <a:spcPct val="100000"/>
              </a:lnSpc>
              <a:spcAft>
                <a:spcPts val="0"/>
              </a:spcAft>
            </a:pPr>
            <a:r>
              <a:rPr sz="1300" b="0" i="0">
                <a:solidFill>
                  <a:srgbClr val="5B6478"/>
                </a:solidFill>
                <a:latin typeface="Arial"/>
              </a:rPr>
              <a:t>Product: who it is for, the job to be done, and what I chose to build versus leave out</a:t>
            </a:r>
          </a:p>
        </p:txBody>
      </p:sp>
      <p:sp>
        <p:nvSpPr>
          <p:cNvPr id="4" name="TextBox 3"/>
          <p:cNvSpPr txBox="1"/>
          <p:nvPr/>
        </p:nvSpPr>
        <p:spPr>
          <a:xfrm>
            <a:off x="457200" y="6473952"/>
            <a:ext cx="8229600" cy="228600"/>
          </a:xfrm>
          <a:prstGeom prst="rect">
            <a:avLst/>
          </a:prstGeom>
          <a:noFill/>
        </p:spPr>
        <p:txBody>
          <a:bodyPr wrap="square" anchor="t" lIns="0" tIns="0" rIns="0" bIns="0">
            <a:spAutoFit/>
          </a:bodyPr>
          <a:lstStyle/>
          <a:p>
            <a:pPr algn="l">
              <a:lnSpc>
                <a:spcPct val="100000"/>
              </a:lnSpc>
              <a:spcAft>
                <a:spcPts val="0"/>
              </a:spcAft>
            </a:pPr>
            <a:r>
              <a:rPr sz="900" b="0" i="0">
                <a:solidFill>
                  <a:srgbClr val="5B6478"/>
                </a:solidFill>
                <a:latin typeface="Arial"/>
              </a:rPr>
              <a:t>Junior AI Investigator  ·  Take-home write-up</a:t>
            </a:r>
          </a:p>
        </p:txBody>
      </p:sp>
      <p:sp>
        <p:nvSpPr>
          <p:cNvPr id="5" name="TextBox 4"/>
          <p:cNvSpPr txBox="1"/>
          <p:nvPr/>
        </p:nvSpPr>
        <p:spPr>
          <a:xfrm>
            <a:off x="10789920" y="6473952"/>
            <a:ext cx="914400" cy="228600"/>
          </a:xfrm>
          <a:prstGeom prst="rect">
            <a:avLst/>
          </a:prstGeom>
          <a:noFill/>
        </p:spPr>
        <p:txBody>
          <a:bodyPr wrap="square" anchor="t" lIns="0" tIns="0" rIns="0" bIns="0">
            <a:spAutoFit/>
          </a:bodyPr>
          <a:lstStyle/>
          <a:p>
            <a:pPr algn="r">
              <a:lnSpc>
                <a:spcPct val="100000"/>
              </a:lnSpc>
              <a:spcAft>
                <a:spcPts val="0"/>
              </a:spcAft>
            </a:pPr>
            <a:r>
              <a:rPr sz="900" b="0" i="0">
                <a:solidFill>
                  <a:srgbClr val="5B6478"/>
                </a:solidFill>
                <a:latin typeface="Arial"/>
              </a:rPr>
              <a:t>1 / 3</a:t>
            </a:r>
          </a:p>
        </p:txBody>
      </p:sp>
      <p:sp>
        <p:nvSpPr>
          <p:cNvPr id="6" name="Rounded Rectangle 5"/>
          <p:cNvSpPr/>
          <p:nvPr/>
        </p:nvSpPr>
        <p:spPr>
          <a:xfrm>
            <a:off x="457200" y="1325880"/>
            <a:ext cx="5440680" cy="1783080"/>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300" b="1" i="0">
                <a:solidFill>
                  <a:srgbClr val="3B4FD8"/>
                </a:solidFill>
                <a:latin typeface="Arial"/>
              </a:rPr>
              <a:t>Who it is for, and the job to be done</a:t>
            </a:r>
          </a:p>
          <a:p>
            <a:pPr algn="l" marL="137160" indent="-137160">
              <a:lnSpc>
                <a:spcPct val="100000"/>
              </a:lnSpc>
              <a:spcAft>
                <a:spcPts val="400"/>
              </a:spcAft>
              <a:buChar char="•"/>
            </a:pPr>
            <a:r>
              <a:rPr sz="1100" b="0" i="0">
                <a:solidFill>
                  <a:srgbClr val="1A1F2B"/>
                </a:solidFill>
                <a:latin typeface="Arial"/>
              </a:rPr>
              <a:t>User: a fraud investigator, and their supervisor, who starts each day with engine-referred claims. Most turn out benign.</a:t>
            </a:r>
          </a:p>
          <a:p>
            <a:pPr algn="l" marL="137160" indent="-137160">
              <a:lnSpc>
                <a:spcPct val="100000"/>
              </a:lnSpc>
              <a:spcAft>
                <a:spcPts val="400"/>
              </a:spcAft>
              <a:buChar char="•"/>
            </a:pPr>
            <a:r>
              <a:rPr sz="1100" b="0" i="0">
                <a:solidFill>
                  <a:srgbClr val="1A1F2B"/>
                </a:solidFill>
                <a:latin typeface="Arial"/>
              </a:rPr>
              <a:t>Job: decide quickly and defensibly which referrals deserve human time, and for those, get the evidence, reasoning and next step without hunting through dozens of signals.</a:t>
            </a:r>
          </a:p>
          <a:p>
            <a:pPr algn="l" marL="137160" indent="-137160">
              <a:lnSpc>
                <a:spcPct val="100000"/>
              </a:lnSpc>
              <a:spcAft>
                <a:spcPts val="400"/>
              </a:spcAft>
              <a:buChar char="•"/>
            </a:pPr>
            <a:r>
              <a:rPr sz="1100" b="0" i="0">
                <a:solidFill>
                  <a:srgbClr val="1A1F2B"/>
                </a:solidFill>
                <a:latin typeface="Arial"/>
              </a:rPr>
              <a:t>The human stays in control; the AI does the first pass.</a:t>
            </a:r>
          </a:p>
        </p:txBody>
      </p:sp>
      <p:sp>
        <p:nvSpPr>
          <p:cNvPr id="7" name="Rounded Rectangle 6"/>
          <p:cNvSpPr/>
          <p:nvPr/>
        </p:nvSpPr>
        <p:spPr>
          <a:xfrm>
            <a:off x="457200" y="3227832"/>
            <a:ext cx="5440680" cy="2011680"/>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300" b="1" i="0">
                <a:solidFill>
                  <a:srgbClr val="3B4FD8"/>
                </a:solidFill>
                <a:latin typeface="Arial"/>
              </a:rPr>
              <a:t>What the data told me (it shaped the design)</a:t>
            </a:r>
          </a:p>
          <a:p>
            <a:pPr algn="l" marL="137160" indent="-137160">
              <a:lnSpc>
                <a:spcPct val="100000"/>
              </a:lnSpc>
              <a:spcAft>
                <a:spcPts val="400"/>
              </a:spcAft>
              <a:buChar char="•"/>
            </a:pPr>
            <a:r>
              <a:rPr sz="1100" b="0" i="0">
                <a:solidFill>
                  <a:srgbClr val="1A1F2B"/>
                </a:solidFill>
                <a:latin typeface="Arial"/>
              </a:rPr>
              <a:t>50 cases fall into three tiers: 8 extreme on every signal, 9 ambiguous, 33 clean.</a:t>
            </a:r>
          </a:p>
          <a:p>
            <a:pPr algn="l" marL="137160" indent="-137160">
              <a:lnSpc>
                <a:spcPct val="100000"/>
              </a:lnSpc>
              <a:spcAft>
                <a:spcPts val="400"/>
              </a:spcAft>
              <a:buChar char="•"/>
            </a:pPr>
            <a:r>
              <a:rPr sz="1100" b="0" i="0">
                <a:solidFill>
                  <a:srgbClr val="1A1F2B"/>
                </a:solidFill>
                <a:latin typeface="Arial"/>
              </a:rPr>
              <a:t>3 'silent' cases trip no flag but have five elevated signals. A flag-count model scores them clean.</a:t>
            </a:r>
          </a:p>
          <a:p>
            <a:pPr algn="l" marL="137160" indent="-137160">
              <a:lnSpc>
                <a:spcPct val="100000"/>
              </a:lnSpc>
              <a:spcAft>
                <a:spcPts val="400"/>
              </a:spcAft>
              <a:buChar char="•"/>
            </a:pPr>
            <a:r>
              <a:rPr sz="1100" b="0" i="0">
                <a:solidFill>
                  <a:srgbClr val="1A1F2B"/>
                </a:solidFill>
                <a:latin typeface="Arial"/>
              </a:rPr>
              <a:t>One claim number sits on both a clean and a critical case. No per-row rule can see that.</a:t>
            </a:r>
          </a:p>
          <a:p>
            <a:pPr algn="l" marL="137160" indent="-137160">
              <a:lnSpc>
                <a:spcPct val="100000"/>
              </a:lnSpc>
              <a:spcAft>
                <a:spcPts val="400"/>
              </a:spcAft>
              <a:buChar char="•"/>
            </a:pPr>
            <a:r>
              <a:rPr sz="1100" b="0" i="0">
                <a:solidFill>
                  <a:srgbClr val="1A1F2B"/>
                </a:solidFill>
                <a:latin typeface="Arial"/>
              </a:rPr>
              <a:t>So: rules for the obvious; AI and humans for the ambiguous middle and cross-case links.</a:t>
            </a:r>
          </a:p>
        </p:txBody>
      </p:sp>
      <p:sp>
        <p:nvSpPr>
          <p:cNvPr id="8" name="Rounded Rectangle 7"/>
          <p:cNvSpPr/>
          <p:nvPr/>
        </p:nvSpPr>
        <p:spPr>
          <a:xfrm>
            <a:off x="457200" y="5358384"/>
            <a:ext cx="2240280" cy="950976"/>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0"/>
              </a:spcAft>
            </a:pPr>
            <a:r>
              <a:rPr sz="2200" b="1" i="0">
                <a:solidFill>
                  <a:srgbClr val="3B4FD8"/>
                </a:solidFill>
                <a:latin typeface="Arial"/>
              </a:rPr>
              <a:t>8 · 9 · 33</a:t>
            </a:r>
          </a:p>
          <a:p>
            <a:pPr algn="ctr">
              <a:lnSpc>
                <a:spcPct val="100000"/>
              </a:lnSpc>
              <a:spcAft>
                <a:spcPts val="0"/>
              </a:spcAft>
            </a:pPr>
            <a:r>
              <a:rPr sz="1000" b="0" i="0">
                <a:solidFill>
                  <a:srgbClr val="5B6478"/>
                </a:solidFill>
                <a:latin typeface="Arial"/>
              </a:rPr>
              <a:t>case tiers in the data</a:t>
            </a:r>
          </a:p>
        </p:txBody>
      </p:sp>
      <p:sp>
        <p:nvSpPr>
          <p:cNvPr id="9" name="Rounded Rectangle 8"/>
          <p:cNvSpPr/>
          <p:nvPr/>
        </p:nvSpPr>
        <p:spPr>
          <a:xfrm>
            <a:off x="2816352" y="5358384"/>
            <a:ext cx="1554480" cy="950976"/>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0"/>
              </a:spcAft>
            </a:pPr>
            <a:r>
              <a:rPr sz="2200" b="1" i="0">
                <a:solidFill>
                  <a:srgbClr val="3B4FD8"/>
                </a:solidFill>
                <a:latin typeface="Arial"/>
              </a:rPr>
              <a:t>17</a:t>
            </a:r>
          </a:p>
          <a:p>
            <a:pPr algn="ctr">
              <a:lnSpc>
                <a:spcPct val="100000"/>
              </a:lnSpc>
              <a:spcAft>
                <a:spcPts val="0"/>
              </a:spcAft>
            </a:pPr>
            <a:r>
              <a:rPr sz="1000" b="0" i="0">
                <a:solidFill>
                  <a:srgbClr val="5B6478"/>
                </a:solidFill>
                <a:latin typeface="Arial"/>
              </a:rPr>
              <a:t>rules, thresholds from the data</a:t>
            </a:r>
          </a:p>
        </p:txBody>
      </p:sp>
      <p:sp>
        <p:nvSpPr>
          <p:cNvPr id="10" name="Rounded Rectangle 9"/>
          <p:cNvSpPr/>
          <p:nvPr/>
        </p:nvSpPr>
        <p:spPr>
          <a:xfrm>
            <a:off x="4489704" y="5358384"/>
            <a:ext cx="1408176" cy="950976"/>
          </a:xfrm>
          <a:prstGeom prst="roundRect">
            <a:avLst>
              <a:gd name="adj" fmla="val 5000"/>
            </a:avLst>
          </a:prstGeom>
          <a:solidFill>
            <a:srgbClr val="D9F5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0"/>
              </a:spcAft>
            </a:pPr>
            <a:r>
              <a:rPr sz="2200" b="1" i="0">
                <a:solidFill>
                  <a:srgbClr val="0E7A4B"/>
                </a:solidFill>
                <a:latin typeface="Arial"/>
              </a:rPr>
              <a:t>88</a:t>
            </a:r>
          </a:p>
          <a:p>
            <a:pPr algn="ctr">
              <a:lnSpc>
                <a:spcPct val="100000"/>
              </a:lnSpc>
              <a:spcAft>
                <a:spcPts val="0"/>
              </a:spcAft>
            </a:pPr>
            <a:r>
              <a:rPr sz="1000" b="0" i="0">
                <a:solidFill>
                  <a:srgbClr val="5B6478"/>
                </a:solidFill>
                <a:latin typeface="Arial"/>
              </a:rPr>
              <a:t>tests passing</a:t>
            </a:r>
          </a:p>
        </p:txBody>
      </p:sp>
      <p:sp>
        <p:nvSpPr>
          <p:cNvPr id="11" name="Rounded Rectangle 10"/>
          <p:cNvSpPr/>
          <p:nvPr/>
        </p:nvSpPr>
        <p:spPr>
          <a:xfrm>
            <a:off x="6126480" y="1325880"/>
            <a:ext cx="5605272" cy="3200400"/>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300" b="1" i="0">
                <a:solidFill>
                  <a:srgbClr val="3B4FD8"/>
                </a:solidFill>
                <a:latin typeface="Arial"/>
              </a:rPr>
              <a:t>What I built</a:t>
            </a:r>
          </a:p>
          <a:p>
            <a:pPr algn="l" marL="137160" indent="-137160">
              <a:lnSpc>
                <a:spcPct val="100000"/>
              </a:lnSpc>
              <a:spcAft>
                <a:spcPts val="600"/>
              </a:spcAft>
              <a:buChar char="•"/>
            </a:pPr>
            <a:r>
              <a:rPr sz="1100" b="0" i="0">
                <a:solidFill>
                  <a:srgbClr val="1A1F2B"/>
                </a:solidFill>
                <a:latin typeface="Arial"/>
              </a:rPr>
              <a:t>Morning briefing: risk counts and exposure, top cases, rule clusters, abnormal firing</a:t>
            </a:r>
          </a:p>
          <a:p>
            <a:pPr algn="l" marL="137160" indent="-137160">
              <a:lnSpc>
                <a:spcPct val="100000"/>
              </a:lnSpc>
              <a:spcAft>
                <a:spcPts val="600"/>
              </a:spcAft>
              <a:buChar char="•"/>
            </a:pPr>
            <a:r>
              <a:rPr sz="1100" b="0" i="0">
                <a:solidFill>
                  <a:srgbClr val="1A1F2B"/>
                </a:solidFill>
                <a:latin typeface="Arial"/>
              </a:rPr>
              <a:t>Per-case AI assessment: summary, grounded indicators, risk level, recommended action, full trace</a:t>
            </a:r>
          </a:p>
          <a:p>
            <a:pPr algn="l" marL="137160" indent="-137160">
              <a:lnSpc>
                <a:spcPct val="100000"/>
              </a:lnSpc>
              <a:spcAft>
                <a:spcPts val="600"/>
              </a:spcAft>
              <a:buChar char="•"/>
            </a:pPr>
            <a:r>
              <a:rPr sz="1100" b="0" i="0">
                <a:solidFill>
                  <a:srgbClr val="1A1F2B"/>
                </a:solidFill>
                <a:latin typeface="Arial"/>
              </a:rPr>
              <a:t>Chatbot with tools; notes it reads (deletable everywhere) plus notes and outcomes from related cases</a:t>
            </a:r>
          </a:p>
          <a:p>
            <a:pPr algn="l" marL="137160" indent="-137160">
              <a:lnSpc>
                <a:spcPct val="100000"/>
              </a:lnSpc>
              <a:spcAft>
                <a:spcPts val="600"/>
              </a:spcAft>
              <a:buChar char="•"/>
            </a:pPr>
            <a:r>
              <a:rPr sz="1100" b="0" i="0">
                <a:solidFill>
                  <a:srgbClr val="1A1F2B"/>
                </a:solidFill>
                <a:latin typeface="Arial"/>
              </a:rPr>
              <a:t>Bulk clear by filter or by selection, behind guardrails</a:t>
            </a:r>
          </a:p>
          <a:p>
            <a:pPr algn="l" marL="137160" indent="-137160">
              <a:lnSpc>
                <a:spcPct val="100000"/>
              </a:lnSpc>
              <a:spcAft>
                <a:spcPts val="600"/>
              </a:spcAft>
              <a:buChar char="•"/>
            </a:pPr>
            <a:r>
              <a:rPr sz="1100" b="0" i="0">
                <a:solidFill>
                  <a:srgbClr val="1A1F2B"/>
                </a:solidFill>
                <a:latin typeface="Arial"/>
              </a:rPr>
              <a:t>Escalation to a supervisor with an AI-drafted handoff</a:t>
            </a:r>
          </a:p>
          <a:p>
            <a:pPr algn="l" marL="137160" indent="-137160">
              <a:lnSpc>
                <a:spcPct val="100000"/>
              </a:lnSpc>
              <a:spcAft>
                <a:spcPts val="600"/>
              </a:spcAft>
              <a:buChar char="•"/>
            </a:pPr>
            <a:r>
              <a:rPr sz="1100" b="0" i="0">
                <a:solidFill>
                  <a:srgbClr val="1A1F2B"/>
                </a:solidFill>
                <a:latin typeface="Arial"/>
              </a:rPr>
              <a:t>Rules tab: create or tune rules live and backtest precision and recall</a:t>
            </a:r>
          </a:p>
          <a:p>
            <a:pPr algn="l" marL="137160" indent="-137160">
              <a:lnSpc>
                <a:spcPct val="100000"/>
              </a:lnSpc>
              <a:spcAft>
                <a:spcPts val="600"/>
              </a:spcAft>
              <a:buChar char="•"/>
            </a:pPr>
            <a:r>
              <a:rPr sz="1100" b="0" i="0">
                <a:solidFill>
                  <a:srgbClr val="1A1F2B"/>
                </a:solidFill>
                <a:latin typeface="Arial"/>
              </a:rPr>
              <a:t>Blocklist: hard rules that auto-decline, with supervisor override</a:t>
            </a:r>
          </a:p>
          <a:p>
            <a:pPr algn="l" marL="137160" indent="-137160">
              <a:lnSpc>
                <a:spcPct val="100000"/>
              </a:lnSpc>
              <a:spcAft>
                <a:spcPts val="600"/>
              </a:spcAft>
              <a:buChar char="•"/>
            </a:pPr>
            <a:r>
              <a:rPr sz="1100" b="0" i="0">
                <a:solidFill>
                  <a:srgbClr val="1A1F2B"/>
                </a:solidFill>
                <a:latin typeface="Arial"/>
              </a:rPr>
              <a:t>'Mark as FRAUD' feedback: lookalikes get flagged (rule R17)</a:t>
            </a:r>
          </a:p>
          <a:p>
            <a:pPr algn="l" marL="137160" indent="-137160">
              <a:lnSpc>
                <a:spcPct val="100000"/>
              </a:lnSpc>
              <a:spcAft>
                <a:spcPts val="600"/>
              </a:spcAft>
              <a:buChar char="•"/>
            </a:pPr>
            <a:r>
              <a:rPr sz="1100" b="0" i="0">
                <a:solidFill>
                  <a:srgbClr val="1A1F2B"/>
                </a:solidFill>
                <a:latin typeface="Arial"/>
              </a:rPr>
              <a:t>Audit log of every AI action and human decision</a:t>
            </a:r>
          </a:p>
        </p:txBody>
      </p:sp>
      <p:sp>
        <p:nvSpPr>
          <p:cNvPr id="12" name="Rounded Rectangle 11"/>
          <p:cNvSpPr/>
          <p:nvPr/>
        </p:nvSpPr>
        <p:spPr>
          <a:xfrm>
            <a:off x="6126480" y="4645152"/>
            <a:ext cx="5605272" cy="1664208"/>
          </a:xfrm>
          <a:prstGeom prst="roundRect">
            <a:avLst>
              <a:gd name="adj" fmla="val 5000"/>
            </a:avLst>
          </a:prstGeom>
          <a:solidFill>
            <a:srgbClr val="F4F5F8"/>
          </a:solidFill>
          <a:ln w="12700">
            <a:solidFill>
              <a:srgbClr val="D9DDE7"/>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300" b="1" i="0">
                <a:solidFill>
                  <a:srgbClr val="3B4FD8"/>
                </a:solidFill>
                <a:latin typeface="Arial"/>
              </a:rPr>
              <a:t>Left out on purpose</a:t>
            </a:r>
          </a:p>
          <a:p>
            <a:pPr algn="l" marL="137160" indent="-137160">
              <a:lnSpc>
                <a:spcPct val="100000"/>
              </a:lnSpc>
              <a:spcAft>
                <a:spcPts val="400"/>
              </a:spcAft>
              <a:buChar char="•"/>
            </a:pPr>
            <a:r>
              <a:rPr sz="1100" b="0" i="0">
                <a:solidFill>
                  <a:srgbClr val="1A1F2B"/>
                </a:solidFill>
                <a:latin typeface="Arial"/>
              </a:rPr>
              <a:t>Auth, multi-tenancy, deployment: not the AI experience.</a:t>
            </a:r>
          </a:p>
          <a:p>
            <a:pPr algn="l" marL="137160" indent="-137160">
              <a:lnSpc>
                <a:spcPct val="100000"/>
              </a:lnSpc>
              <a:spcAft>
                <a:spcPts val="400"/>
              </a:spcAft>
              <a:buChar char="•"/>
            </a:pPr>
            <a:r>
              <a:rPr sz="1100" b="0" i="0">
                <a:solidFill>
                  <a:srgbClr val="1A1F2B"/>
                </a:solidFill>
                <a:latin typeface="Arial"/>
              </a:rPr>
              <a:t>Training an ML model: there are no labels, so an accuracy claim would be made up.</a:t>
            </a:r>
          </a:p>
          <a:p>
            <a:pPr algn="l" marL="137160" indent="-137160">
              <a:lnSpc>
                <a:spcPct val="100000"/>
              </a:lnSpc>
              <a:spcAft>
                <a:spcPts val="400"/>
              </a:spcAft>
              <a:buChar char="•"/>
            </a:pPr>
            <a:r>
              <a:rPr sz="1100" b="0" i="0">
                <a:solidFill>
                  <a:srgbClr val="1A1F2B"/>
                </a:solidFill>
                <a:latin typeface="Arial"/>
              </a:rPr>
              <a:t>Provider or member graph, external enrichment: the CSV has no IDs (the code supports them if a dataset has them).</a:t>
            </a:r>
          </a:p>
          <a:p>
            <a:pPr algn="l" marL="137160" indent="-137160">
              <a:lnSpc>
                <a:spcPct val="100000"/>
              </a:lnSpc>
              <a:spcAft>
                <a:spcPts val="0"/>
              </a:spcAft>
              <a:buChar char="•"/>
            </a:pPr>
            <a:r>
              <a:rPr sz="1100" b="0" i="0">
                <a:solidFill>
                  <a:srgbClr val="1A1F2B"/>
                </a:solidFill>
                <a:latin typeface="Arial"/>
              </a:rPr>
              <a:t>Assumptions: synthetic, unlabelled data; one row per referral; peer % is vs the same care type.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566928"/>
          </a:xfrm>
          <a:prstGeom prst="rect">
            <a:avLst/>
          </a:prstGeom>
          <a:noFill/>
        </p:spPr>
        <p:txBody>
          <a:bodyPr wrap="square" anchor="t" lIns="0" tIns="0" rIns="0" bIns="0">
            <a:spAutoFit/>
          </a:bodyPr>
          <a:lstStyle/>
          <a:p>
            <a:pPr algn="l">
              <a:lnSpc>
                <a:spcPct val="100000"/>
              </a:lnSpc>
              <a:spcAft>
                <a:spcPts val="0"/>
              </a:spcAft>
            </a:pPr>
            <a:r>
              <a:rPr sz="2500" b="1" i="0">
                <a:solidFill>
                  <a:srgbClr val="1A1F2B"/>
                </a:solidFill>
                <a:latin typeface="Arial"/>
              </a:rPr>
              <a:t>Rules first; agents reason only as deep as each case needs</a:t>
            </a:r>
          </a:p>
        </p:txBody>
      </p:sp>
      <p:sp>
        <p:nvSpPr>
          <p:cNvPr id="3" name="TextBox 2"/>
          <p:cNvSpPr txBox="1"/>
          <p:nvPr/>
        </p:nvSpPr>
        <p:spPr>
          <a:xfrm>
            <a:off x="457200" y="850392"/>
            <a:ext cx="11247120" cy="292608"/>
          </a:xfrm>
          <a:prstGeom prst="rect">
            <a:avLst/>
          </a:prstGeom>
          <a:noFill/>
        </p:spPr>
        <p:txBody>
          <a:bodyPr wrap="square" anchor="t" lIns="0" tIns="0" rIns="0" bIns="0">
            <a:spAutoFit/>
          </a:bodyPr>
          <a:lstStyle/>
          <a:p>
            <a:pPr algn="l">
              <a:lnSpc>
                <a:spcPct val="100000"/>
              </a:lnSpc>
              <a:spcAft>
                <a:spcPts val="0"/>
              </a:spcAft>
            </a:pPr>
            <a:r>
              <a:rPr sz="1300" b="0" i="0">
                <a:solidFill>
                  <a:srgbClr val="5B6478"/>
                </a:solidFill>
                <a:latin typeface="Arial"/>
              </a:rPr>
              <a:t>Architecture: how the system reasons, stays grounded, and scales</a:t>
            </a:r>
          </a:p>
        </p:txBody>
      </p:sp>
      <p:sp>
        <p:nvSpPr>
          <p:cNvPr id="4" name="TextBox 3"/>
          <p:cNvSpPr txBox="1"/>
          <p:nvPr/>
        </p:nvSpPr>
        <p:spPr>
          <a:xfrm>
            <a:off x="457200" y="6473952"/>
            <a:ext cx="8229600" cy="228600"/>
          </a:xfrm>
          <a:prstGeom prst="rect">
            <a:avLst/>
          </a:prstGeom>
          <a:noFill/>
        </p:spPr>
        <p:txBody>
          <a:bodyPr wrap="square" anchor="t" lIns="0" tIns="0" rIns="0" bIns="0">
            <a:spAutoFit/>
          </a:bodyPr>
          <a:lstStyle/>
          <a:p>
            <a:pPr algn="l">
              <a:lnSpc>
                <a:spcPct val="100000"/>
              </a:lnSpc>
              <a:spcAft>
                <a:spcPts val="0"/>
              </a:spcAft>
            </a:pPr>
            <a:r>
              <a:rPr sz="900" b="0" i="0">
                <a:solidFill>
                  <a:srgbClr val="5B6478"/>
                </a:solidFill>
                <a:latin typeface="Arial"/>
              </a:rPr>
              <a:t>Junior AI Investigator  ·  Take-home write-up</a:t>
            </a:r>
          </a:p>
        </p:txBody>
      </p:sp>
      <p:sp>
        <p:nvSpPr>
          <p:cNvPr id="5" name="TextBox 4"/>
          <p:cNvSpPr txBox="1"/>
          <p:nvPr/>
        </p:nvSpPr>
        <p:spPr>
          <a:xfrm>
            <a:off x="10789920" y="6473952"/>
            <a:ext cx="914400" cy="228600"/>
          </a:xfrm>
          <a:prstGeom prst="rect">
            <a:avLst/>
          </a:prstGeom>
          <a:noFill/>
        </p:spPr>
        <p:txBody>
          <a:bodyPr wrap="square" anchor="t" lIns="0" tIns="0" rIns="0" bIns="0">
            <a:spAutoFit/>
          </a:bodyPr>
          <a:lstStyle/>
          <a:p>
            <a:pPr algn="r">
              <a:lnSpc>
                <a:spcPct val="100000"/>
              </a:lnSpc>
              <a:spcAft>
                <a:spcPts val="0"/>
              </a:spcAft>
            </a:pPr>
            <a:r>
              <a:rPr sz="900" b="0" i="0">
                <a:solidFill>
                  <a:srgbClr val="5B6478"/>
                </a:solidFill>
                <a:latin typeface="Arial"/>
              </a:rPr>
              <a:t>2 / 3</a:t>
            </a:r>
          </a:p>
        </p:txBody>
      </p:sp>
      <p:sp>
        <p:nvSpPr>
          <p:cNvPr id="6" name="Rounded Rectangle 5"/>
          <p:cNvSpPr/>
          <p:nvPr/>
        </p:nvSpPr>
        <p:spPr>
          <a:xfrm>
            <a:off x="457200" y="1298448"/>
            <a:ext cx="1965960" cy="713232"/>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100"/>
              </a:spcAft>
            </a:pPr>
            <a:r>
              <a:rPr sz="1050" b="1" i="0">
                <a:solidFill>
                  <a:srgbClr val="1A1F2B"/>
                </a:solidFill>
                <a:latin typeface="Arial"/>
              </a:rPr>
              <a:t>CSV + derived features</a:t>
            </a:r>
          </a:p>
          <a:p>
            <a:pPr algn="ctr">
              <a:lnSpc>
                <a:spcPct val="100000"/>
              </a:lnSpc>
              <a:spcAft>
                <a:spcPts val="0"/>
              </a:spcAft>
            </a:pPr>
            <a:r>
              <a:rPr sz="900" b="0" i="0">
                <a:solidFill>
                  <a:srgbClr val="5B6478"/>
                </a:solidFill>
                <a:latin typeface="Arial"/>
              </a:rPr>
              <a:t>travel miles, log-z, links</a:t>
            </a:r>
          </a:p>
        </p:txBody>
      </p:sp>
      <p:sp>
        <p:nvSpPr>
          <p:cNvPr id="7" name="Right Arrow 6"/>
          <p:cNvSpPr/>
          <p:nvPr/>
        </p:nvSpPr>
        <p:spPr>
          <a:xfrm>
            <a:off x="2468880" y="1536192"/>
            <a:ext cx="256032" cy="237744"/>
          </a:xfrm>
          <a:prstGeom prst="rightArrow">
            <a:avLst/>
          </a:prstGeom>
          <a:solidFill>
            <a:srgbClr val="3B4F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88920" y="1298448"/>
            <a:ext cx="2606040" cy="713232"/>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100"/>
              </a:spcAft>
            </a:pPr>
            <a:r>
              <a:rPr sz="1050" b="1" i="0">
                <a:solidFill>
                  <a:srgbClr val="1A1F2B"/>
                </a:solidFill>
                <a:latin typeface="Arial"/>
              </a:rPr>
              <a:t>17 rules (R01–R17)</a:t>
            </a:r>
          </a:p>
          <a:p>
            <a:pPr algn="ctr">
              <a:lnSpc>
                <a:spcPct val="100000"/>
              </a:lnSpc>
              <a:spcAft>
                <a:spcPts val="0"/>
              </a:spcAft>
            </a:pPr>
            <a:r>
              <a:rPr sz="900" b="0" i="0">
                <a:solidFill>
                  <a:srgbClr val="5B6478"/>
                </a:solidFill>
                <a:latin typeface="Arial"/>
              </a:rPr>
              <a:t>thresholds from natural breaks in the data</a:t>
            </a:r>
          </a:p>
        </p:txBody>
      </p:sp>
      <p:sp>
        <p:nvSpPr>
          <p:cNvPr id="9" name="Right Arrow 8"/>
          <p:cNvSpPr/>
          <p:nvPr/>
        </p:nvSpPr>
        <p:spPr>
          <a:xfrm>
            <a:off x="5440680" y="1536192"/>
            <a:ext cx="256032" cy="237744"/>
          </a:xfrm>
          <a:prstGeom prst="rightArrow">
            <a:avLst/>
          </a:prstGeom>
          <a:solidFill>
            <a:srgbClr val="3B4F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760720" y="1298448"/>
            <a:ext cx="2514600" cy="713232"/>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100"/>
              </a:spcAft>
            </a:pPr>
            <a:r>
              <a:rPr sz="1050" b="1" i="0">
                <a:solidFill>
                  <a:srgbClr val="1A1F2B"/>
                </a:solidFill>
                <a:latin typeface="Arial"/>
              </a:rPr>
              <a:t>Score 0–100</a:t>
            </a:r>
          </a:p>
          <a:p>
            <a:pPr algn="ctr">
              <a:lnSpc>
                <a:spcPct val="100000"/>
              </a:lnSpc>
              <a:spcAft>
                <a:spcPts val="0"/>
              </a:spcAft>
            </a:pPr>
            <a:r>
              <a:rPr sz="900" b="0" i="0">
                <a:solidFill>
                  <a:srgbClr val="5B6478"/>
                </a:solidFill>
                <a:latin typeface="Arial"/>
              </a:rPr>
              <a:t>strongest rule per domain, noisy-OR</a:t>
            </a:r>
          </a:p>
        </p:txBody>
      </p:sp>
      <p:sp>
        <p:nvSpPr>
          <p:cNvPr id="11" name="Right Arrow 10"/>
          <p:cNvSpPr/>
          <p:nvPr/>
        </p:nvSpPr>
        <p:spPr>
          <a:xfrm>
            <a:off x="8321040" y="1536192"/>
            <a:ext cx="256032" cy="237744"/>
          </a:xfrm>
          <a:prstGeom prst="rightArrow">
            <a:avLst/>
          </a:prstGeom>
          <a:solidFill>
            <a:srgbClr val="3B4F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641080" y="1298448"/>
            <a:ext cx="3090672" cy="713232"/>
          </a:xfrm>
          <a:prstGeom prst="roundRect">
            <a:avLst>
              <a:gd name="adj" fmla="val 5000"/>
            </a:avLst>
          </a:prstGeom>
          <a:solidFill>
            <a:srgbClr val="3B4F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ctr">
              <a:lnSpc>
                <a:spcPct val="100000"/>
              </a:lnSpc>
              <a:spcAft>
                <a:spcPts val="100"/>
              </a:spcAft>
            </a:pPr>
            <a:r>
              <a:rPr sz="1050" b="1" i="0">
                <a:solidFill>
                  <a:srgbClr val="FFFFFF"/>
                </a:solidFill>
                <a:latin typeface="Arial"/>
              </a:rPr>
              <a:t>Router: deterministic, no LLM</a:t>
            </a:r>
          </a:p>
          <a:p>
            <a:pPr algn="ctr">
              <a:lnSpc>
                <a:spcPct val="100000"/>
              </a:lnSpc>
              <a:spcAft>
                <a:spcPts val="0"/>
              </a:spcAft>
            </a:pPr>
            <a:r>
              <a:rPr sz="900" b="0" i="0">
                <a:solidFill>
                  <a:srgbClr val="FFFFFF"/>
                </a:solidFill>
                <a:latin typeface="Arial"/>
              </a:rPr>
              <a:t>picks depth from the fired rules</a:t>
            </a:r>
          </a:p>
        </p:txBody>
      </p:sp>
      <p:sp>
        <p:nvSpPr>
          <p:cNvPr id="13" name="Rounded Rectangle 12"/>
          <p:cNvSpPr/>
          <p:nvPr/>
        </p:nvSpPr>
        <p:spPr>
          <a:xfrm>
            <a:off x="457200" y="2139696"/>
            <a:ext cx="2377440" cy="1143000"/>
          </a:xfrm>
          <a:prstGeom prst="roundRect">
            <a:avLst>
              <a:gd name="adj" fmla="val 5000"/>
            </a:avLst>
          </a:prstGeom>
          <a:solidFill>
            <a:srgbClr val="D9F5E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300"/>
              </a:spcAft>
            </a:pPr>
            <a:r>
              <a:rPr sz="1200" b="1" i="0">
                <a:solidFill>
                  <a:srgbClr val="0E7A4B"/>
                </a:solidFill>
                <a:latin typeface="Arial"/>
              </a:rPr>
              <a:t>FAST  ·  29 cases</a:t>
            </a:r>
          </a:p>
          <a:p>
            <a:pPr algn="l">
              <a:lnSpc>
                <a:spcPct val="100000"/>
              </a:lnSpc>
              <a:spcAft>
                <a:spcPts val="0"/>
              </a:spcAft>
            </a:pPr>
            <a:r>
              <a:rPr sz="1100" b="0" i="0">
                <a:solidFill>
                  <a:srgbClr val="1A1F2B"/>
                </a:solidFill>
                <a:latin typeface="Arial"/>
              </a:rPr>
              <a:t>No rule fired. One cheap call reviews 5 cases at once. No tools.</a:t>
            </a:r>
          </a:p>
        </p:txBody>
      </p:sp>
      <p:sp>
        <p:nvSpPr>
          <p:cNvPr id="14" name="Rounded Rectangle 13"/>
          <p:cNvSpPr/>
          <p:nvPr/>
        </p:nvSpPr>
        <p:spPr>
          <a:xfrm>
            <a:off x="2971800" y="2139696"/>
            <a:ext cx="2377440" cy="1143000"/>
          </a:xfrm>
          <a:prstGeom prst="roundRect">
            <a:avLst>
              <a:gd name="adj" fmla="val 5000"/>
            </a:avLst>
          </a:prstGeom>
          <a:solidFill>
            <a:srgbClr val="FEE4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300"/>
              </a:spcAft>
            </a:pPr>
            <a:r>
              <a:rPr sz="1200" b="1" i="0">
                <a:solidFill>
                  <a:srgbClr val="B42318"/>
                </a:solidFill>
                <a:latin typeface="Arial"/>
              </a:rPr>
              <a:t>OBVIOUS  ·  8 cases</a:t>
            </a:r>
          </a:p>
          <a:p>
            <a:pPr algn="l">
              <a:lnSpc>
                <a:spcPct val="100000"/>
              </a:lnSpc>
              <a:spcAft>
                <a:spcPts val="0"/>
              </a:spcAft>
            </a:pPr>
            <a:r>
              <a:rPr sz="1100" b="0" i="0">
                <a:solidFill>
                  <a:srgbClr val="1A1F2B"/>
                </a:solidFill>
                <a:latin typeface="Arial"/>
              </a:rPr>
              <a:t>Rule level CRITICAL. Verifier only, since the facts are unambiguous.</a:t>
            </a:r>
          </a:p>
        </p:txBody>
      </p:sp>
      <p:sp>
        <p:nvSpPr>
          <p:cNvPr id="15" name="Rounded Rectangle 14"/>
          <p:cNvSpPr/>
          <p:nvPr/>
        </p:nvSpPr>
        <p:spPr>
          <a:xfrm>
            <a:off x="5486400" y="2139696"/>
            <a:ext cx="6245352" cy="1143000"/>
          </a:xfrm>
          <a:prstGeom prst="roundRect">
            <a:avLst>
              <a:gd name="adj" fmla="val 5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300"/>
              </a:spcAft>
            </a:pPr>
            <a:r>
              <a:rPr sz="1200" b="1" i="0">
                <a:solidFill>
                  <a:srgbClr val="A16207"/>
                </a:solidFill>
                <a:latin typeface="Arial"/>
              </a:rPr>
              <a:t>DEEP  ·  13 cases (ambiguous or linked)</a:t>
            </a:r>
          </a:p>
          <a:p>
            <a:pPr algn="l">
              <a:lnSpc>
                <a:spcPct val="100000"/>
              </a:lnSpc>
              <a:spcAft>
                <a:spcPts val="0"/>
              </a:spcAft>
            </a:pPr>
            <a:r>
              <a:rPr sz="1100" b="0" i="0">
                <a:solidFill>
                  <a:srgbClr val="1A1F2B"/>
                </a:solidFill>
                <a:latin typeface="Arial"/>
              </a:rPr>
              <a:t>Specialists run in parallel, only where their domain fired: billing, collusion and linkage, geography and utilization.  →  Adversarial challenger argues the benign case.  →  Verifier synthesises.  →  3-persona judge panel only if the case is contested.</a:t>
            </a:r>
          </a:p>
        </p:txBody>
      </p:sp>
      <p:sp>
        <p:nvSpPr>
          <p:cNvPr id="16" name="Rounded Rectangle 15"/>
          <p:cNvSpPr/>
          <p:nvPr/>
        </p:nvSpPr>
        <p:spPr>
          <a:xfrm>
            <a:off x="457200" y="3401568"/>
            <a:ext cx="11274552" cy="384048"/>
          </a:xfrm>
          <a:prstGeom prst="roundRect">
            <a:avLst>
              <a:gd name="adj" fmla="val 12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91440" rIns="128016" bIns="73152"/>
          <a:lstStyle/>
          <a:p>
            <a:pPr algn="l">
              <a:lnSpc>
                <a:spcPct val="100000"/>
              </a:lnSpc>
              <a:spcAft>
                <a:spcPts val="0"/>
              </a:spcAft>
            </a:pPr>
            <a:r>
              <a:rPr sz="1000" b="1" i="0">
                <a:solidFill>
                  <a:srgbClr val="FFFFFF"/>
                </a:solidFill>
                <a:latin typeface="Arial"/>
              </a:rPr>
              <a:t>Grounding gate </a:t>
            </a:r>
            <a:r>
              <a:rPr sz="1000" b="0" i="0">
                <a:solidFill>
                  <a:srgbClr val="FFFFFF"/>
                </a:solidFill>
                <a:latin typeface="Arial"/>
              </a:rPr>
              <a:t>on every output  →  assessment + investigation trace + cost.   Chat and agents share 9 read-only tools (peer stats, similar and linked cases, notes, search).</a:t>
            </a:r>
          </a:p>
        </p:txBody>
      </p:sp>
      <p:sp>
        <p:nvSpPr>
          <p:cNvPr id="17" name="Rounded Rectangle 16"/>
          <p:cNvSpPr/>
          <p:nvPr/>
        </p:nvSpPr>
        <p:spPr>
          <a:xfrm>
            <a:off x="457200" y="3931920"/>
            <a:ext cx="3685032" cy="2423160"/>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300" b="1" i="0">
                <a:solidFill>
                  <a:srgbClr val="3B4FD8"/>
                </a:solidFill>
                <a:latin typeface="Arial"/>
              </a:rPr>
              <a:t>Grounded, not just prompted</a:t>
            </a:r>
          </a:p>
          <a:p>
            <a:pPr algn="l" marL="137160" indent="-137160">
              <a:lnSpc>
                <a:spcPct val="100000"/>
              </a:lnSpc>
              <a:spcAft>
                <a:spcPts val="500"/>
              </a:spcAft>
              <a:buChar char="•"/>
            </a:pPr>
            <a:r>
              <a:rPr sz="1100" b="0" i="0">
                <a:solidFill>
                  <a:srgbClr val="1A1F2B"/>
                </a:solidFill>
                <a:latin typeface="Arial"/>
              </a:rPr>
              <a:t>Rules are deterministic. The model moves the score by at most ±20; the level is derived from the score.</a:t>
            </a:r>
          </a:p>
          <a:p>
            <a:pPr algn="l" marL="137160" indent="-137160">
              <a:lnSpc>
                <a:spcPct val="100000"/>
              </a:lnSpc>
              <a:spcAft>
                <a:spcPts val="500"/>
              </a:spcAft>
              <a:buChar char="•"/>
            </a:pPr>
            <a:r>
              <a:rPr sz="1100" b="0" i="0">
                <a:solidFill>
                  <a:srgbClr val="1A1F2B"/>
                </a:solidFill>
                <a:latin typeface="Arial"/>
              </a:rPr>
              <a:t>Every cited field=value is re-checked against the record (286 of 286 stored indicators pass). Invented figures are flagged.</a:t>
            </a:r>
          </a:p>
          <a:p>
            <a:pPr algn="l" marL="137160" indent="-137160">
              <a:lnSpc>
                <a:spcPct val="100000"/>
              </a:lnSpc>
              <a:spcAft>
                <a:spcPts val="500"/>
              </a:spcAft>
              <a:buChar char="•"/>
            </a:pPr>
            <a:r>
              <a:rPr sz="1100" b="0" i="0">
                <a:solidFill>
                  <a:srgbClr val="1A1F2B"/>
                </a:solidFill>
                <a:latin typeface="Arial"/>
              </a:rPr>
              <a:t>It cannot recommend clearing a HIGH/CRITICAL case or a lookalike of a confirmed fraud, or downgrade a case linked to a CRITICAL one.</a:t>
            </a:r>
          </a:p>
          <a:p>
            <a:pPr algn="l" marL="137160" indent="-137160">
              <a:lnSpc>
                <a:spcPct val="100000"/>
              </a:lnSpc>
              <a:spcAft>
                <a:spcPts val="0"/>
              </a:spcAft>
              <a:buChar char="•"/>
            </a:pPr>
            <a:r>
              <a:rPr sz="1100" b="0" i="0">
                <a:solidFill>
                  <a:srgbClr val="1A1F2B"/>
                </a:solidFill>
                <a:latin typeface="Arial"/>
              </a:rPr>
              <a:t>Notes are untrusted input. Failures show as 'LLM unavailable', never invented text.</a:t>
            </a:r>
          </a:p>
        </p:txBody>
      </p:sp>
      <p:sp>
        <p:nvSpPr>
          <p:cNvPr id="18" name="Rounded Rectangle 17"/>
          <p:cNvSpPr/>
          <p:nvPr/>
        </p:nvSpPr>
        <p:spPr>
          <a:xfrm>
            <a:off x="4251960" y="3931920"/>
            <a:ext cx="3685032" cy="2423160"/>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300" b="1" i="0">
                <a:solidFill>
                  <a:srgbClr val="3B4FD8"/>
                </a:solidFill>
                <a:latin typeface="Arial"/>
              </a:rPr>
              <a:t>Harness and measurements</a:t>
            </a:r>
          </a:p>
          <a:p>
            <a:pPr algn="l" marL="137160" indent="-137160">
              <a:lnSpc>
                <a:spcPct val="100000"/>
              </a:lnSpc>
              <a:spcAft>
                <a:spcPts val="500"/>
              </a:spcAft>
              <a:buChar char="•"/>
            </a:pPr>
            <a:r>
              <a:rPr sz="1100" b="0" i="0">
                <a:solidFill>
                  <a:srgbClr val="1A1F2B"/>
                </a:solidFill>
                <a:latin typeface="Arial"/>
              </a:rPr>
              <a:t>Every agent has budgets, a tool allowlist, typed output with repair, fast→strong escalation, model fallback and traced calls.</a:t>
            </a:r>
          </a:p>
          <a:p>
            <a:pPr algn="l" marL="137160" indent="-137160">
              <a:lnSpc>
                <a:spcPct val="100000"/>
              </a:lnSpc>
              <a:spcAft>
                <a:spcPts val="500"/>
              </a:spcAft>
              <a:buChar char="•"/>
            </a:pPr>
            <a:r>
              <a:rPr sz="1100" b="0" i="0">
                <a:solidFill>
                  <a:srgbClr val="1A1F2B"/>
                </a:solidFill>
                <a:latin typeface="Arial"/>
              </a:rPr>
              <a:t>10/10 behavioural invariants; 5/5 counterfactual and prompt-injection tests.</a:t>
            </a:r>
          </a:p>
          <a:p>
            <a:pPr algn="l" marL="137160" indent="-137160">
              <a:lnSpc>
                <a:spcPct val="100000"/>
              </a:lnSpc>
              <a:spcAft>
                <a:spcPts val="0"/>
              </a:spcAft>
              <a:buChar char="•"/>
            </a:pPr>
            <a:r>
              <a:rPr sz="1100" b="0" i="0">
                <a:solidFill>
                  <a:srgbClr val="1A1F2B"/>
                </a:solidFill>
                <a:latin typeface="Arial"/>
              </a:rPr>
              <a:t>Versus a single-judge baseline: 100% band agreement, 27% fewer tokens (238k vs 328k). A new note re-runs 2 calls, not 5.</a:t>
            </a:r>
          </a:p>
        </p:txBody>
      </p:sp>
      <p:sp>
        <p:nvSpPr>
          <p:cNvPr id="19" name="Rounded Rectangle 18"/>
          <p:cNvSpPr/>
          <p:nvPr/>
        </p:nvSpPr>
        <p:spPr>
          <a:xfrm>
            <a:off x="8046720" y="3931920"/>
            <a:ext cx="3685032" cy="2423160"/>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300" b="1" i="0">
                <a:solidFill>
                  <a:srgbClr val="3B4FD8"/>
                </a:solidFill>
                <a:latin typeface="Arial"/>
              </a:rPr>
              <a:t>Beyond 50 cases</a:t>
            </a:r>
          </a:p>
          <a:p>
            <a:pPr algn="l" marL="137160" indent="-137160">
              <a:lnSpc>
                <a:spcPct val="100000"/>
              </a:lnSpc>
              <a:spcAft>
                <a:spcPts val="500"/>
              </a:spcAft>
              <a:buChar char="•"/>
            </a:pPr>
            <a:r>
              <a:rPr sz="1100" b="0" i="0">
                <a:solidFill>
                  <a:srgbClr val="1A1F2B"/>
                </a:solidFill>
                <a:latin typeface="Arial"/>
              </a:rPr>
              <a:t>Router cost is O(1) per case, so effort lands on the hard tail; real queues have a larger FAST share.</a:t>
            </a:r>
          </a:p>
          <a:p>
            <a:pPr algn="l" marL="137160" indent="-137160">
              <a:lnSpc>
                <a:spcPct val="100000"/>
              </a:lnSpc>
              <a:spcAft>
                <a:spcPts val="500"/>
              </a:spcAft>
              <a:buChar char="•"/>
            </a:pPr>
            <a:r>
              <a:rPr sz="1100" b="0" i="0">
                <a:solidFill>
                  <a:srgbClr val="1A1F2B"/>
                </a:solidFill>
                <a:latin typeface="Arial"/>
              </a:rPr>
              <a:t>Batching, parallel subagents, reuse by evidence hash, model tiers and budgets keep cost bounded.</a:t>
            </a:r>
          </a:p>
          <a:p>
            <a:pPr algn="l" marL="137160" indent="-137160">
              <a:lnSpc>
                <a:spcPct val="100000"/>
              </a:lnSpc>
              <a:spcAft>
                <a:spcPts val="500"/>
              </a:spcAft>
              <a:buChar char="•"/>
            </a:pPr>
            <a:r>
              <a:rPr sz="1100" b="0" i="0">
                <a:solidFill>
                  <a:srgbClr val="1A1F2B"/>
                </a:solidFill>
                <a:latin typeface="Arial"/>
              </a:rPr>
              <a:t>Prototype limits: SQLite, in-process workers, O(n) similarity. Next: Postgres, queue workers, a vector index.</a:t>
            </a:r>
          </a:p>
          <a:p>
            <a:pPr algn="l" marL="137160" indent="-137160">
              <a:lnSpc>
                <a:spcPct val="100000"/>
              </a:lnSpc>
              <a:spcAft>
                <a:spcPts val="0"/>
              </a:spcAft>
              <a:buChar char="•"/>
            </a:pPr>
            <a:r>
              <a:rPr sz="1100" b="0" i="0">
                <a:solidFill>
                  <a:srgbClr val="1A1F2B"/>
                </a:solidFill>
                <a:latin typeface="Arial"/>
              </a:rPr>
              <a:t>About 4 sequential LLM hops (≈65 s on free models): fine for a morning batch, not per click.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566928"/>
          </a:xfrm>
          <a:prstGeom prst="rect">
            <a:avLst/>
          </a:prstGeom>
          <a:noFill/>
        </p:spPr>
        <p:txBody>
          <a:bodyPr wrap="square" anchor="t" lIns="0" tIns="0" rIns="0" bIns="0">
            <a:spAutoFit/>
          </a:bodyPr>
          <a:lstStyle/>
          <a:p>
            <a:pPr algn="l">
              <a:lnSpc>
                <a:spcPct val="100000"/>
              </a:lnSpc>
              <a:spcAft>
                <a:spcPts val="0"/>
              </a:spcAft>
            </a:pPr>
            <a:r>
              <a:rPr sz="2500" b="1" i="0">
                <a:solidFill>
                  <a:srgbClr val="1A1F2B"/>
                </a:solidFill>
                <a:latin typeface="Arial"/>
              </a:rPr>
              <a:t>The AI advises, humans decide, and the risks are named</a:t>
            </a:r>
          </a:p>
        </p:txBody>
      </p:sp>
      <p:sp>
        <p:nvSpPr>
          <p:cNvPr id="3" name="TextBox 2"/>
          <p:cNvSpPr txBox="1"/>
          <p:nvPr/>
        </p:nvSpPr>
        <p:spPr>
          <a:xfrm>
            <a:off x="457200" y="850392"/>
            <a:ext cx="11247120" cy="292608"/>
          </a:xfrm>
          <a:prstGeom prst="rect">
            <a:avLst/>
          </a:prstGeom>
          <a:noFill/>
        </p:spPr>
        <p:txBody>
          <a:bodyPr wrap="square" anchor="t" lIns="0" tIns="0" rIns="0" bIns="0">
            <a:spAutoFit/>
          </a:bodyPr>
          <a:lstStyle/>
          <a:p>
            <a:pPr algn="l">
              <a:lnSpc>
                <a:spcPct val="100000"/>
              </a:lnSpc>
              <a:spcAft>
                <a:spcPts val="0"/>
              </a:spcAft>
            </a:pPr>
            <a:r>
              <a:rPr sz="1300" b="0" i="0">
                <a:solidFill>
                  <a:srgbClr val="5B6478"/>
                </a:solidFill>
                <a:latin typeface="Arial"/>
              </a:rPr>
              <a:t>Human in the loop, trade-offs, and what I would do next</a:t>
            </a:r>
          </a:p>
        </p:txBody>
      </p:sp>
      <p:sp>
        <p:nvSpPr>
          <p:cNvPr id="4" name="TextBox 3"/>
          <p:cNvSpPr txBox="1"/>
          <p:nvPr/>
        </p:nvSpPr>
        <p:spPr>
          <a:xfrm>
            <a:off x="457200" y="6473952"/>
            <a:ext cx="8229600" cy="228600"/>
          </a:xfrm>
          <a:prstGeom prst="rect">
            <a:avLst/>
          </a:prstGeom>
          <a:noFill/>
        </p:spPr>
        <p:txBody>
          <a:bodyPr wrap="square" anchor="t" lIns="0" tIns="0" rIns="0" bIns="0">
            <a:spAutoFit/>
          </a:bodyPr>
          <a:lstStyle/>
          <a:p>
            <a:pPr algn="l">
              <a:lnSpc>
                <a:spcPct val="100000"/>
              </a:lnSpc>
              <a:spcAft>
                <a:spcPts val="0"/>
              </a:spcAft>
            </a:pPr>
            <a:r>
              <a:rPr sz="900" b="0" i="0">
                <a:solidFill>
                  <a:srgbClr val="5B6478"/>
                </a:solidFill>
                <a:latin typeface="Arial"/>
              </a:rPr>
              <a:t>Junior AI Investigator  ·  Take-home write-up</a:t>
            </a:r>
          </a:p>
        </p:txBody>
      </p:sp>
      <p:sp>
        <p:nvSpPr>
          <p:cNvPr id="5" name="TextBox 4"/>
          <p:cNvSpPr txBox="1"/>
          <p:nvPr/>
        </p:nvSpPr>
        <p:spPr>
          <a:xfrm>
            <a:off x="10789920" y="6473952"/>
            <a:ext cx="914400" cy="228600"/>
          </a:xfrm>
          <a:prstGeom prst="rect">
            <a:avLst/>
          </a:prstGeom>
          <a:noFill/>
        </p:spPr>
        <p:txBody>
          <a:bodyPr wrap="square" anchor="t" lIns="0" tIns="0" rIns="0" bIns="0">
            <a:spAutoFit/>
          </a:bodyPr>
          <a:lstStyle/>
          <a:p>
            <a:pPr algn="r">
              <a:lnSpc>
                <a:spcPct val="100000"/>
              </a:lnSpc>
              <a:spcAft>
                <a:spcPts val="0"/>
              </a:spcAft>
            </a:pPr>
            <a:r>
              <a:rPr sz="900" b="0" i="0">
                <a:solidFill>
                  <a:srgbClr val="5B6478"/>
                </a:solidFill>
                <a:latin typeface="Arial"/>
              </a:rPr>
              <a:t>3 / 3</a:t>
            </a:r>
          </a:p>
        </p:txBody>
      </p:sp>
      <p:sp>
        <p:nvSpPr>
          <p:cNvPr id="6" name="Rounded Rectangle 5"/>
          <p:cNvSpPr/>
          <p:nvPr/>
        </p:nvSpPr>
        <p:spPr>
          <a:xfrm>
            <a:off x="457200" y="1298448"/>
            <a:ext cx="3685032" cy="5056632"/>
          </a:xfrm>
          <a:prstGeom prst="roundRect">
            <a:avLst>
              <a:gd name="adj" fmla="val 5000"/>
            </a:avLst>
          </a:prstGeom>
          <a:solidFill>
            <a:srgbClr val="EEF0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400" b="1" i="0">
                <a:solidFill>
                  <a:srgbClr val="3B4FD8"/>
                </a:solidFill>
                <a:latin typeface="Arial"/>
              </a:rPr>
              <a:t>How investigators trust, check and override it</a:t>
            </a:r>
          </a:p>
          <a:p>
            <a:pPr algn="l" marL="137160" indent="-137160">
              <a:lnSpc>
                <a:spcPct val="100000"/>
              </a:lnSpc>
              <a:spcAft>
                <a:spcPts val="700"/>
              </a:spcAft>
              <a:buChar char="•"/>
            </a:pPr>
            <a:r>
              <a:rPr sz="1150" b="0" i="0">
                <a:solidFill>
                  <a:srgbClr val="1A1F2B"/>
                </a:solidFill>
                <a:latin typeface="Arial"/>
              </a:rPr>
              <a:t>Rule score and AI score are shown side by side.</a:t>
            </a:r>
          </a:p>
          <a:p>
            <a:pPr algn="l" marL="137160" indent="-137160">
              <a:lnSpc>
                <a:spcPct val="100000"/>
              </a:lnSpc>
              <a:spcAft>
                <a:spcPts val="700"/>
              </a:spcAft>
              <a:buChar char="•"/>
            </a:pPr>
            <a:r>
              <a:rPr sz="1150" b="0" i="0">
                <a:solidFill>
                  <a:srgbClr val="1A1F2B"/>
                </a:solidFill>
                <a:latin typeface="Arial"/>
              </a:rPr>
              <a:t>Every indicator cites a field and value. Accept ✓ or reject ✗; rejected findings are not re-asserted.</a:t>
            </a:r>
          </a:p>
          <a:p>
            <a:pPr algn="l" marL="137160" indent="-137160">
              <a:lnSpc>
                <a:spcPct val="100000"/>
              </a:lnSpc>
              <a:spcAft>
                <a:spcPts val="700"/>
              </a:spcAft>
              <a:buChar char="•"/>
            </a:pPr>
            <a:r>
              <a:rPr sz="1150" b="0" i="0">
                <a:solidFill>
                  <a:srgbClr val="1A1F2B"/>
                </a:solidFill>
                <a:latin typeface="Arial"/>
              </a:rPr>
              <a:t>Guardrail removals and the full agent trace are visible.</a:t>
            </a:r>
          </a:p>
          <a:p>
            <a:pPr algn="l" marL="137160" indent="-137160">
              <a:lnSpc>
                <a:spcPct val="100000"/>
              </a:lnSpc>
              <a:spcAft>
                <a:spcPts val="700"/>
              </a:spcAft>
              <a:buChar char="•"/>
            </a:pPr>
            <a:r>
              <a:rPr sz="1150" b="0" i="0">
                <a:solidFill>
                  <a:srgbClr val="1A1F2B"/>
                </a:solidFill>
                <a:latin typeface="Arial"/>
              </a:rPr>
              <a:t>A note changes the next assessment. Deleting it removes it from the AI, the chat and the audit text.</a:t>
            </a:r>
          </a:p>
          <a:p>
            <a:pPr algn="l" marL="137160" indent="-137160">
              <a:lnSpc>
                <a:spcPct val="100000"/>
              </a:lnSpc>
              <a:spcAft>
                <a:spcPts val="700"/>
              </a:spcAft>
              <a:buChar char="•"/>
            </a:pPr>
            <a:r>
              <a:rPr sz="1150" b="0" i="0">
                <a:solidFill>
                  <a:srgbClr val="1A1F2B"/>
                </a:solidFill>
                <a:latin typeface="Arial"/>
              </a:rPr>
              <a:t>Every clear, escalation and override needs a reason and is audited. The AI never changes a status.</a:t>
            </a:r>
          </a:p>
          <a:p>
            <a:pPr algn="l" marL="137160" indent="-137160">
              <a:lnSpc>
                <a:spcPct val="100000"/>
              </a:lnSpc>
              <a:spcAft>
                <a:spcPts val="700"/>
              </a:spcAft>
              <a:buChar char="•"/>
            </a:pPr>
            <a:r>
              <a:rPr sz="1150" b="0" i="0">
                <a:solidFill>
                  <a:srgbClr val="1A1F2B"/>
                </a:solidFill>
                <a:latin typeface="Arial"/>
              </a:rPr>
              <a:t>Bulk clear previews what is blocked, and why.</a:t>
            </a:r>
          </a:p>
          <a:p>
            <a:pPr algn="l" marL="137160" indent="-137160">
              <a:lnSpc>
                <a:spcPct val="100000"/>
              </a:lnSpc>
              <a:spcAft>
                <a:spcPts val="700"/>
              </a:spcAft>
              <a:buChar char="•"/>
            </a:pPr>
            <a:r>
              <a:rPr sz="1150" b="0" i="0">
                <a:solidFill>
                  <a:srgbClr val="1A1F2B"/>
                </a:solidFill>
                <a:latin typeface="Arial"/>
              </a:rPr>
              <a:t>Supervisors approve or return escalations, override blocklist declines and activate hard rules; investigators can only propose.</a:t>
            </a:r>
          </a:p>
          <a:p>
            <a:pPr algn="l" marL="137160" indent="-137160">
              <a:lnSpc>
                <a:spcPct val="100000"/>
              </a:lnSpc>
              <a:spcAft>
                <a:spcPts val="700"/>
              </a:spcAft>
              <a:buChar char="•"/>
            </a:pPr>
            <a:r>
              <a:rPr sz="1150" b="0" i="0">
                <a:solidFill>
                  <a:srgbClr val="1A1F2B"/>
                </a:solidFill>
                <a:latin typeface="Arial"/>
              </a:rPr>
              <a:t>Rules tab: draft, backtest with impact preview, then save or run in shadow.</a:t>
            </a:r>
          </a:p>
          <a:p>
            <a:pPr algn="l" marL="137160" indent="-137160">
              <a:lnSpc>
                <a:spcPct val="100000"/>
              </a:lnSpc>
              <a:spcAft>
                <a:spcPts val="0"/>
              </a:spcAft>
              <a:buChar char="•"/>
            </a:pPr>
            <a:r>
              <a:rPr sz="1150" b="0" i="0">
                <a:solidFill>
                  <a:srgbClr val="1A1F2B"/>
                </a:solidFill>
                <a:latin typeface="Arial"/>
              </a:rPr>
              <a:t>'Mark as FRAUD' teaches the system: lookalikes are flagged and clearing them is blocked.</a:t>
            </a:r>
          </a:p>
        </p:txBody>
      </p:sp>
      <p:sp>
        <p:nvSpPr>
          <p:cNvPr id="7" name="Rounded Rectangle 6"/>
          <p:cNvSpPr/>
          <p:nvPr/>
        </p:nvSpPr>
        <p:spPr>
          <a:xfrm>
            <a:off x="4251960" y="1298448"/>
            <a:ext cx="3685032" cy="5056632"/>
          </a:xfrm>
          <a:prstGeom prst="roundRect">
            <a:avLst>
              <a:gd name="adj" fmla="val 5000"/>
            </a:avLst>
          </a:prstGeom>
          <a:solidFill>
            <a:srgbClr val="F4F5F8"/>
          </a:solidFill>
          <a:ln w="12700">
            <a:solidFill>
              <a:srgbClr val="D9DDE7"/>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400" b="1" i="0">
                <a:solidFill>
                  <a:srgbClr val="3B4FD8"/>
                </a:solidFill>
                <a:latin typeface="Arial"/>
              </a:rPr>
              <a:t>Trade-offs and risks</a:t>
            </a:r>
          </a:p>
          <a:p>
            <a:pPr algn="l" marL="137160" indent="-137160">
              <a:lnSpc>
                <a:spcPct val="100000"/>
              </a:lnSpc>
              <a:spcAft>
                <a:spcPts val="700"/>
              </a:spcAft>
              <a:buChar char="•"/>
            </a:pPr>
            <a:r>
              <a:rPr sz="1150" b="0" i="0">
                <a:solidFill>
                  <a:srgbClr val="1A1F2B"/>
                </a:solidFill>
                <a:latin typeface="Arial"/>
              </a:rPr>
              <a:t>Accuracy: no labels. Backtests use synthetic labels (leave-one-out, so a rule does not grade itself): they show agreement, not fraud.</a:t>
            </a:r>
          </a:p>
          <a:p>
            <a:pPr algn="l" marL="137160" indent="-137160">
              <a:lnSpc>
                <a:spcPct val="100000"/>
              </a:lnSpc>
              <a:spcAft>
                <a:spcPts val="700"/>
              </a:spcAft>
              <a:buChar char="•"/>
            </a:pPr>
            <a:r>
              <a:rPr sz="1150" b="0" i="0">
                <a:solidFill>
                  <a:srgbClr val="1A1F2B"/>
                </a:solidFill>
                <a:latin typeface="Arial"/>
              </a:rPr>
              <a:t>Cost: the crew uses fewer tokens but more reference dollars ($0.44 vs $0.12) because of the strong-tier verifier.</a:t>
            </a:r>
          </a:p>
          <a:p>
            <a:pPr algn="l" marL="137160" indent="-137160">
              <a:lnSpc>
                <a:spcPct val="100000"/>
              </a:lnSpc>
              <a:spcAft>
                <a:spcPts val="700"/>
              </a:spcAft>
              <a:buChar char="•"/>
            </a:pPr>
            <a:r>
              <a:rPr sz="1150" b="0" i="0">
                <a:solidFill>
                  <a:srgbClr val="1A1F2B"/>
                </a:solidFill>
                <a:latin typeface="Arial"/>
              </a:rPr>
              <a:t>Latency: about 20 s per call on free models.</a:t>
            </a:r>
          </a:p>
          <a:p>
            <a:pPr algn="l" marL="137160" indent="-137160">
              <a:lnSpc>
                <a:spcPct val="100000"/>
              </a:lnSpc>
              <a:spcAft>
                <a:spcPts val="700"/>
              </a:spcAft>
              <a:buChar char="•"/>
            </a:pPr>
            <a:r>
              <a:rPr sz="1150" b="0" i="0">
                <a:solidFill>
                  <a:srgbClr val="1A1F2B"/>
                </a:solidFill>
                <a:latin typeface="Arial"/>
              </a:rPr>
              <a:t>Trust: the prose can still be subtly wrong even when every cited field is right.</a:t>
            </a:r>
          </a:p>
          <a:p>
            <a:pPr algn="l" marL="137160" indent="-137160">
              <a:lnSpc>
                <a:spcPct val="100000"/>
              </a:lnSpc>
              <a:spcAft>
                <a:spcPts val="700"/>
              </a:spcAft>
              <a:buChar char="•"/>
            </a:pPr>
            <a:r>
              <a:rPr sz="1150" b="0" i="0">
                <a:solidFill>
                  <a:srgbClr val="1A1F2B"/>
                </a:solidFill>
                <a:latin typeface="Arial"/>
              </a:rPr>
              <a:t>Abuse: injection notes, bulk clear, over-broad blocklist entries (confirmation needed above 25% of the queue).</a:t>
            </a:r>
          </a:p>
          <a:p>
            <a:pPr algn="l" marL="137160" indent="-137160">
              <a:lnSpc>
                <a:spcPct val="100000"/>
              </a:lnSpc>
              <a:spcAft>
                <a:spcPts val="700"/>
              </a:spcAft>
              <a:buChar char="•"/>
            </a:pPr>
            <a:r>
              <a:rPr sz="1150" b="0" i="0">
                <a:solidFill>
                  <a:srgbClr val="1A1F2B"/>
                </a:solidFill>
                <a:latin typeface="Arial"/>
              </a:rPr>
              <a:t>Fairness: distance and weekend signals can proxy for rural or shift-work providers.</a:t>
            </a:r>
          </a:p>
          <a:p>
            <a:pPr algn="l" marL="137160" indent="-137160">
              <a:lnSpc>
                <a:spcPct val="100000"/>
              </a:lnSpc>
              <a:spcAft>
                <a:spcPts val="700"/>
              </a:spcAft>
              <a:buChar char="•"/>
            </a:pPr>
            <a:r>
              <a:rPr sz="1150" b="0" i="0">
                <a:solidFill>
                  <a:srgbClr val="1A1F2B"/>
                </a:solidFill>
                <a:latin typeface="Arial"/>
              </a:rPr>
              <a:t>False negatives are the costliest risk, and only discovered misses can be measured.</a:t>
            </a:r>
          </a:p>
          <a:p>
            <a:pPr algn="l" marL="137160" indent="-137160">
              <a:lnSpc>
                <a:spcPct val="100000"/>
              </a:lnSpc>
              <a:spcAft>
                <a:spcPts val="0"/>
              </a:spcAft>
              <a:buChar char="•"/>
            </a:pPr>
            <a:r>
              <a:rPr sz="1150" b="0" i="0">
                <a:solidFill>
                  <a:srgbClr val="1A1F2B"/>
                </a:solidFill>
                <a:latin typeface="Arial"/>
              </a:rPr>
              <a:t>My own evals found: the challenger rates every case 'medium', and confidence barely separates contested cases.</a:t>
            </a:r>
          </a:p>
        </p:txBody>
      </p:sp>
      <p:sp>
        <p:nvSpPr>
          <p:cNvPr id="8" name="Rounded Rectangle 7"/>
          <p:cNvSpPr/>
          <p:nvPr/>
        </p:nvSpPr>
        <p:spPr>
          <a:xfrm>
            <a:off x="8046720" y="1298448"/>
            <a:ext cx="3685032" cy="5056632"/>
          </a:xfrm>
          <a:prstGeom prst="roundRect">
            <a:avLst>
              <a:gd name="adj" fmla="val 5000"/>
            </a:avLst>
          </a:prstGeom>
          <a:solidFill>
            <a:srgbClr val="ECF7F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91440" rIns="128016" bIns="73152"/>
          <a:lstStyle/>
          <a:p>
            <a:pPr algn="l">
              <a:lnSpc>
                <a:spcPct val="100000"/>
              </a:lnSpc>
              <a:spcAft>
                <a:spcPts val="500"/>
              </a:spcAft>
            </a:pPr>
            <a:r>
              <a:rPr sz="1400" b="1" i="0">
                <a:solidFill>
                  <a:srgbClr val="3B4FD8"/>
                </a:solidFill>
                <a:latin typeface="Arial"/>
              </a:rPr>
              <a:t>With more time, in priority order</a:t>
            </a:r>
          </a:p>
          <a:p>
            <a:pPr algn="l" marL="137160" indent="-137160">
              <a:lnSpc>
                <a:spcPct val="100000"/>
              </a:lnSpc>
              <a:spcAft>
                <a:spcPts val="700"/>
              </a:spcAft>
              <a:buChar char="•"/>
            </a:pPr>
            <a:r>
              <a:rPr sz="1150" b="0" i="0">
                <a:solidFill>
                  <a:srgbClr val="1A1F2B"/>
                </a:solidFill>
                <a:latin typeface="Arial"/>
              </a:rPr>
              <a:t>False-negative safety net: miss-rate tracking from confirmed outcomes; a look-back that reopens cleared lookalikes; an independent adversarial reviewer; audited sampling with a statistical bound.</a:t>
            </a:r>
          </a:p>
          <a:p>
            <a:pPr algn="l" marL="137160" indent="-137160">
              <a:lnSpc>
                <a:spcPct val="100000"/>
              </a:lnSpc>
              <a:spcAft>
                <a:spcPts val="700"/>
              </a:spcAft>
              <a:buChar char="•"/>
            </a:pPr>
            <a:r>
              <a:rPr sz="1150" b="0" i="0">
                <a:solidFill>
                  <a:srgbClr val="1A1F2B"/>
                </a:solidFill>
                <a:latin typeface="Arial"/>
              </a:rPr>
              <a:t>Anomaly detector: prototyped, deferred because it is unstable at 50 cases.</a:t>
            </a:r>
          </a:p>
          <a:p>
            <a:pPr algn="l" marL="137160" indent="-137160">
              <a:lnSpc>
                <a:spcPct val="100000"/>
              </a:lnSpc>
              <a:spcAft>
                <a:spcPts val="700"/>
              </a:spcAft>
              <a:buChar char="•"/>
            </a:pPr>
            <a:r>
              <a:rPr sz="1150" b="0" i="0">
                <a:solidFill>
                  <a:srgbClr val="1A1F2B"/>
                </a:solidFill>
                <a:latin typeface="Arial"/>
              </a:rPr>
              <a:t>Re-fit weights and thresholds from confirmed outcomes.</a:t>
            </a:r>
          </a:p>
          <a:p>
            <a:pPr algn="l" marL="137160" indent="-137160">
              <a:lnSpc>
                <a:spcPct val="100000"/>
              </a:lnSpc>
              <a:spcAft>
                <a:spcPts val="700"/>
              </a:spcAft>
              <a:buChar char="•"/>
            </a:pPr>
            <a:r>
              <a:rPr sz="1150" b="0" i="0">
                <a:solidFill>
                  <a:srgbClr val="1A1F2B"/>
                </a:solidFill>
                <a:latin typeface="Arial"/>
              </a:rPr>
              <a:t>A provider and member graph; a labelled backtest.</a:t>
            </a:r>
          </a:p>
          <a:p>
            <a:pPr algn="l" marL="137160" indent="-137160">
              <a:lnSpc>
                <a:spcPct val="100000"/>
              </a:lnSpc>
              <a:spcAft>
                <a:spcPts val="700"/>
              </a:spcAft>
              <a:buChar char="•"/>
            </a:pPr>
            <a:r>
              <a:rPr sz="1150" b="0" i="0">
                <a:solidFill>
                  <a:srgbClr val="1A1F2B"/>
                </a:solidFill>
                <a:latin typeface="Arial"/>
              </a:rPr>
              <a:t>Four-eyes on large bulk clears; a streaming UI.</a:t>
            </a:r>
          </a:p>
          <a:p>
            <a:pPr algn="l">
              <a:lnSpc>
                <a:spcPct val="100000"/>
              </a:lnSpc>
              <a:spcAft>
                <a:spcPts val="0"/>
              </a:spcAft>
            </a:pPr>
            <a:r>
              <a:rPr sz="1150" b="0" i="0">
                <a:solidFill>
                  <a:srgbClr val="5B6478"/>
                </a:solidFill>
                <a:latin typeface="Arial"/>
              </a:rPr>
              <a:t>Deliberately cut: auth, deployment, enrichment, model 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