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The user is a fraud investigator, and their supervisor, who starts the day with engine-referred claims that are mostly benign. The job to be done is to decide quickly and defensibly which referrals deserve human time, and for those, to get evidence, reasoning and a next step without hunting through dozens of signals.</a:t>
            </a:r>
          </a:p>
          <a:p/>
          <a:p>
            <a:r>
              <a:t>The data shaped the design. The 50 cases fall into three tiers: 8 extreme on every signal, 9 ambiguous, 33 clean. Three 'silent' cases (C1026, C1040, C1042) trip no flag but carry five elevated signals, and claim number LTC-2034786 sits on a clean case (C1001) and a critical one (C1031). So rules take the obvious cases; AI and humans spend their effort on the ambiguous middle and on cross-case links.</a:t>
            </a:r>
          </a:p>
          <a:p/>
          <a:p>
            <a:r>
              <a:t>The screenshot is the real prototype. Note '9 AI-unavailable': the free models rate-limit, and the product shows that honestly instead of inventing an assessment.</a:t>
            </a:r>
          </a:p>
          <a:p/>
          <a:p>
            <a:r>
              <a:t>DEMO PATH: Morning briefing, then a critical case, then C1001 (the linked-claim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Not one LLM call. Deterministic rules score every case first; thresholds come from natural breaks in the data. A router with no LLM then picks a lane: 29 clean cases share one cheap batched call (5 per call), 8 critical cases get a verifier only, and 13 ambiguous or linked cases get the full crew.</a:t>
            </a:r>
          </a:p>
          <a:p/>
          <a:p>
            <a:r>
              <a:t>On the DEEP lane, specialists (billing, collusion and linkage, geography and utilization) run in parallel only where their domain fired, each with at most one tool. An adversarial challenger argues the benign case, a verifier on the strong model tier synthesises, and a three-persona panel convenes only when the case is contested. All of it runs in a small harness I wrote: budgets, tool allowlists, typed output with repair, fast-to-strong escalation, model fallback, traced spans. No agent framework, no RAG, no vector store.</a:t>
            </a:r>
          </a:p>
          <a:p/>
          <a:p>
            <a:r>
              <a:t>GROUNDING is deterministic code around the model: citations re-checked against the record, score moves capped at 20 with the level derived, no CLEAR on HIGH/CRITICAL or a confirmed-fraud lookalike, failures shown as LLM_UNAVAILABLE.</a:t>
            </a:r>
          </a:p>
          <a:p/>
          <a:p>
            <a:r>
              <a:t>MEASURED on the 50 cases (docs/EVAL.md): 10/10 invariants, 5/5 counterfactual and injection tests, 277/277 stored indicators re-verify, 100% band agreement with the single-judge baseline at 27% fewer tokens. The strong-tier verifier raises reference dollars ($0.44 vs $0.12), so I do not claim it is cheaper in dollars.</a:t>
            </a:r>
          </a:p>
          <a:p/>
          <a:p>
            <a:r>
              <a:t>SCALING: right side is explicitly not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IN THE LOOP. The AI never changes a case's status. Every clear, escalation, override and fraud outcome is a human action with a reason, in an audit log. Investigators see the rule score beside the AI score, check every indicator against its field and value, accept or reject it (rejections are respected next time), and read the agent trace and guardrail removals. Notes steer the next assessment, and deleting a note purges it from assessments, chat and related-case context. Supervisors approve escalations, override blocklist declines and activate hard rules; investigators can only propose them.</a:t>
            </a:r>
          </a:p>
          <a:p/>
          <a:p>
            <a:r>
              <a:t>TRADE-OFFS. No labels means no accuracy claim; backtests use synthetic labels and say so. False negatives are the costliest risk and only discovered misses can be measured. The free models rate-limit, so some cases show LLM unavailable: shown, not faked.</a:t>
            </a:r>
          </a:p>
          <a:p/>
          <a:p>
            <a:r>
              <a:t>NEXT (not built): false-negative safety net (miss-rate tracking, look-back that reopens cleared lookalikes, independent adversarial reviewer, audit sampling with a statistical bound). I prototyped an anomaly detector and deferred it: flagged sets changed with the seed at 50 cases.</a:t>
            </a:r>
          </a:p>
          <a:p/>
          <a:p>
            <a:r>
              <a:t>DEMO PATH: add a note, watch it go stale, ask the chatbot, delete it; Blocklist decline and override; Rules tab backtest.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566928"/>
          </a:xfrm>
          <a:prstGeom prst="rect">
            <a:avLst/>
          </a:prstGeom>
          <a:noFill/>
        </p:spPr>
        <p:txBody>
          <a:bodyPr wrap="square" anchor="t" lIns="0" tIns="0" rIns="0" bIns="0">
            <a:spAutoFit/>
          </a:bodyPr>
          <a:lstStyle/>
          <a:p>
            <a:pPr algn="l">
              <a:lnSpc>
                <a:spcPct val="100000"/>
              </a:lnSpc>
              <a:spcAft>
                <a:spcPts val="0"/>
              </a:spcAft>
            </a:pPr>
            <a:r>
              <a:rPr sz="2500" b="1" i="0">
                <a:solidFill>
                  <a:srgbClr val="1A1F2B"/>
                </a:solidFill>
                <a:latin typeface="Arial"/>
              </a:rPr>
              <a:t>Investigators open the tool to a triaged queue, not a blank one</a:t>
            </a:r>
          </a:p>
        </p:txBody>
      </p:sp>
      <p:sp>
        <p:nvSpPr>
          <p:cNvPr id="3" name="TextBox 2"/>
          <p:cNvSpPr txBox="1"/>
          <p:nvPr/>
        </p:nvSpPr>
        <p:spPr>
          <a:xfrm>
            <a:off x="457200" y="850392"/>
            <a:ext cx="11247120" cy="292608"/>
          </a:xfrm>
          <a:prstGeom prst="rect">
            <a:avLst/>
          </a:prstGeom>
          <a:noFill/>
        </p:spPr>
        <p:txBody>
          <a:bodyPr wrap="square" anchor="t" lIns="0" tIns="0" rIns="0" bIns="0">
            <a:spAutoFit/>
          </a:bodyPr>
          <a:lstStyle/>
          <a:p>
            <a:pPr algn="l">
              <a:lnSpc>
                <a:spcPct val="100000"/>
              </a:lnSpc>
              <a:spcAft>
                <a:spcPts val="0"/>
              </a:spcAft>
            </a:pPr>
            <a:r>
              <a:rPr sz="1300" b="0" i="0">
                <a:solidFill>
                  <a:srgbClr val="5B6478"/>
                </a:solidFill>
                <a:latin typeface="Arial"/>
              </a:rPr>
              <a:t>Product  ·  the user, the job to be done, and what I chose to build and to cut</a:t>
            </a:r>
          </a:p>
        </p:txBody>
      </p:sp>
      <p:sp>
        <p:nvSpPr>
          <p:cNvPr id="4" name="TextBox 3"/>
          <p:cNvSpPr txBox="1"/>
          <p:nvPr/>
        </p:nvSpPr>
        <p:spPr>
          <a:xfrm>
            <a:off x="457200" y="6473952"/>
            <a:ext cx="8229600" cy="228600"/>
          </a:xfrm>
          <a:prstGeom prst="rect">
            <a:avLst/>
          </a:prstGeom>
          <a:noFill/>
        </p:spPr>
        <p:txBody>
          <a:bodyPr wrap="square" anchor="t" lIns="0" tIns="0" rIns="0" bIns="0">
            <a:spAutoFit/>
          </a:bodyPr>
          <a:lstStyle/>
          <a:p>
            <a:pPr algn="l">
              <a:lnSpc>
                <a:spcPct val="100000"/>
              </a:lnSpc>
              <a:spcAft>
                <a:spcPts val="0"/>
              </a:spcAft>
            </a:pPr>
            <a:r>
              <a:rPr sz="900" b="0" i="0">
                <a:solidFill>
                  <a:srgbClr val="5B6478"/>
                </a:solidFill>
                <a:latin typeface="Arial"/>
              </a:rPr>
              <a:t>Junior AI Investigator  ·  Take-home write-up</a:t>
            </a:r>
          </a:p>
        </p:txBody>
      </p:sp>
      <p:sp>
        <p:nvSpPr>
          <p:cNvPr id="5" name="TextBox 4"/>
          <p:cNvSpPr txBox="1"/>
          <p:nvPr/>
        </p:nvSpPr>
        <p:spPr>
          <a:xfrm>
            <a:off x="10789920" y="6473952"/>
            <a:ext cx="914400" cy="228600"/>
          </a:xfrm>
          <a:prstGeom prst="rect">
            <a:avLst/>
          </a:prstGeom>
          <a:noFill/>
        </p:spPr>
        <p:txBody>
          <a:bodyPr wrap="square" anchor="t" lIns="0" tIns="0" rIns="0" bIns="0">
            <a:spAutoFit/>
          </a:bodyPr>
          <a:lstStyle/>
          <a:p>
            <a:pPr algn="r">
              <a:lnSpc>
                <a:spcPct val="100000"/>
              </a:lnSpc>
              <a:spcAft>
                <a:spcPts val="0"/>
              </a:spcAft>
            </a:pPr>
            <a:r>
              <a:rPr sz="900" b="0" i="0">
                <a:solidFill>
                  <a:srgbClr val="5B6478"/>
                </a:solidFill>
                <a:latin typeface="Arial"/>
              </a:rPr>
              <a:t>1 / 3</a:t>
            </a:r>
          </a:p>
        </p:txBody>
      </p:sp>
      <p:sp>
        <p:nvSpPr>
          <p:cNvPr id="6" name="Rounded Rectangle 5"/>
          <p:cNvSpPr/>
          <p:nvPr/>
        </p:nvSpPr>
        <p:spPr>
          <a:xfrm>
            <a:off x="457200" y="1325880"/>
            <a:ext cx="4983480" cy="137160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The user and the job</a:t>
            </a:r>
          </a:p>
          <a:p>
            <a:pPr algn="l">
              <a:lnSpc>
                <a:spcPct val="100000"/>
              </a:lnSpc>
              <a:spcAft>
                <a:spcPts val="500"/>
              </a:spcAft>
            </a:pPr>
            <a:r>
              <a:rPr sz="1100" b="1" i="0">
                <a:solidFill>
                  <a:srgbClr val="1A1F2B"/>
                </a:solidFill>
                <a:latin typeface="Arial"/>
              </a:rPr>
              <a:t>User: </a:t>
            </a:r>
            <a:r>
              <a:rPr sz="1100" b="0" i="0">
                <a:solidFill>
                  <a:srgbClr val="1A1F2B"/>
                </a:solidFill>
                <a:latin typeface="Arial"/>
              </a:rPr>
              <a:t>a fraud investigator, and their supervisor, facing a daily queue of engine referrals that mostly turn out benign.</a:t>
            </a:r>
          </a:p>
          <a:p>
            <a:pPr algn="l">
              <a:lnSpc>
                <a:spcPct val="100000"/>
              </a:lnSpc>
              <a:spcAft>
                <a:spcPts val="0"/>
              </a:spcAft>
            </a:pPr>
            <a:r>
              <a:rPr sz="1100" b="1" i="0">
                <a:solidFill>
                  <a:srgbClr val="1A1F2B"/>
                </a:solidFill>
                <a:latin typeface="Arial"/>
              </a:rPr>
              <a:t>Job: </a:t>
            </a:r>
            <a:r>
              <a:rPr sz="1100" b="0" i="0">
                <a:solidFill>
                  <a:srgbClr val="1A1F2B"/>
                </a:solidFill>
                <a:latin typeface="Arial"/>
              </a:rPr>
              <a:t>decide fast, and defensibly, which referrals deserve human time; on those, get evidence, reasoning and a next step without hunting through signals.</a:t>
            </a:r>
          </a:p>
        </p:txBody>
      </p:sp>
      <p:sp>
        <p:nvSpPr>
          <p:cNvPr id="7" name="TextBox 6"/>
          <p:cNvSpPr txBox="1"/>
          <p:nvPr/>
        </p:nvSpPr>
        <p:spPr>
          <a:xfrm>
            <a:off x="457200" y="2834640"/>
            <a:ext cx="4983480" cy="228600"/>
          </a:xfrm>
          <a:prstGeom prst="rect">
            <a:avLst/>
          </a:prstGeom>
          <a:noFill/>
        </p:spPr>
        <p:txBody>
          <a:bodyPr wrap="square" anchor="t" lIns="0" tIns="0" rIns="0" bIns="0">
            <a:spAutoFit/>
          </a:bodyPr>
          <a:lstStyle/>
          <a:p>
            <a:pPr algn="l">
              <a:lnSpc>
                <a:spcPct val="100000"/>
              </a:lnSpc>
              <a:spcAft>
                <a:spcPts val="0"/>
              </a:spcAft>
            </a:pPr>
            <a:r>
              <a:rPr sz="950" b="1" i="0">
                <a:solidFill>
                  <a:srgbClr val="5B6478"/>
                </a:solidFill>
                <a:latin typeface="Arial"/>
              </a:rPr>
              <a:t>WHAT THE 50-CASE CSV TOLD ME</a:t>
            </a:r>
          </a:p>
        </p:txBody>
      </p:sp>
      <p:sp>
        <p:nvSpPr>
          <p:cNvPr id="8" name="Rounded Rectangle 7"/>
          <p:cNvSpPr/>
          <p:nvPr/>
        </p:nvSpPr>
        <p:spPr>
          <a:xfrm>
            <a:off x="457200" y="3090672"/>
            <a:ext cx="1572768" cy="896112"/>
          </a:xfrm>
          <a:prstGeom prst="roundRect">
            <a:avLst>
              <a:gd name="adj" fmla="val 5000"/>
            </a:avLst>
          </a:prstGeom>
          <a:solidFill>
            <a:srgbClr val="FEE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B42318"/>
                </a:solidFill>
                <a:latin typeface="Arial"/>
              </a:rPr>
              <a:t>8</a:t>
            </a:r>
          </a:p>
          <a:p>
            <a:pPr algn="ctr">
              <a:lnSpc>
                <a:spcPct val="100000"/>
              </a:lnSpc>
              <a:spcAft>
                <a:spcPts val="0"/>
              </a:spcAft>
            </a:pPr>
            <a:r>
              <a:rPr sz="1000" b="0" i="0">
                <a:solidFill>
                  <a:srgbClr val="5B6478"/>
                </a:solidFill>
                <a:latin typeface="Arial"/>
              </a:rPr>
              <a:t>extreme on every signal</a:t>
            </a:r>
          </a:p>
        </p:txBody>
      </p:sp>
      <p:sp>
        <p:nvSpPr>
          <p:cNvPr id="9" name="Rounded Rectangle 8"/>
          <p:cNvSpPr/>
          <p:nvPr/>
        </p:nvSpPr>
        <p:spPr>
          <a:xfrm>
            <a:off x="2162556" y="3090672"/>
            <a:ext cx="1572768" cy="896112"/>
          </a:xfrm>
          <a:prstGeom prst="roundRect">
            <a:avLst>
              <a:gd name="adj" fmla="val 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A16207"/>
                </a:solidFill>
                <a:latin typeface="Arial"/>
              </a:rPr>
              <a:t>9</a:t>
            </a:r>
          </a:p>
          <a:p>
            <a:pPr algn="ctr">
              <a:lnSpc>
                <a:spcPct val="100000"/>
              </a:lnSpc>
              <a:spcAft>
                <a:spcPts val="0"/>
              </a:spcAft>
            </a:pPr>
            <a:r>
              <a:rPr sz="1000" b="0" i="0">
                <a:solidFill>
                  <a:srgbClr val="5B6478"/>
                </a:solidFill>
                <a:latin typeface="Arial"/>
              </a:rPr>
              <a:t>ambiguous middle</a:t>
            </a:r>
          </a:p>
        </p:txBody>
      </p:sp>
      <p:sp>
        <p:nvSpPr>
          <p:cNvPr id="10" name="Rounded Rectangle 9"/>
          <p:cNvSpPr/>
          <p:nvPr/>
        </p:nvSpPr>
        <p:spPr>
          <a:xfrm>
            <a:off x="3867912" y="3090672"/>
            <a:ext cx="1572768" cy="896112"/>
          </a:xfrm>
          <a:prstGeom prst="roundRect">
            <a:avLst>
              <a:gd name="adj" fmla="val 5000"/>
            </a:avLst>
          </a:prstGeom>
          <a:solidFill>
            <a:srgbClr val="D9F5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0E7A4B"/>
                </a:solidFill>
                <a:latin typeface="Arial"/>
              </a:rPr>
              <a:t>33</a:t>
            </a:r>
          </a:p>
          <a:p>
            <a:pPr algn="ctr">
              <a:lnSpc>
                <a:spcPct val="100000"/>
              </a:lnSpc>
              <a:spcAft>
                <a:spcPts val="0"/>
              </a:spcAft>
            </a:pPr>
            <a:r>
              <a:rPr sz="1000" b="0" i="0">
                <a:solidFill>
                  <a:srgbClr val="5B6478"/>
                </a:solidFill>
                <a:latin typeface="Arial"/>
              </a:rPr>
              <a:t>clean</a:t>
            </a:r>
          </a:p>
        </p:txBody>
      </p:sp>
      <p:sp>
        <p:nvSpPr>
          <p:cNvPr id="11" name="Rounded Rectangle 10"/>
          <p:cNvSpPr/>
          <p:nvPr/>
        </p:nvSpPr>
        <p:spPr>
          <a:xfrm>
            <a:off x="457200" y="4114800"/>
            <a:ext cx="4983480" cy="1207008"/>
          </a:xfrm>
          <a:prstGeom prst="roundRect">
            <a:avLst>
              <a:gd name="adj" fmla="val 5000"/>
            </a:avLst>
          </a:prstGeom>
          <a:solidFill>
            <a:srgbClr val="F4F5F8"/>
          </a:solidFill>
          <a:ln w="12700">
            <a:solidFill>
              <a:srgbClr val="D9DDE7"/>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marL="137160" indent="-137160">
              <a:lnSpc>
                <a:spcPct val="100000"/>
              </a:lnSpc>
              <a:spcAft>
                <a:spcPts val="400"/>
              </a:spcAft>
              <a:buChar char="•"/>
            </a:pPr>
            <a:r>
              <a:rPr sz="1050" b="0" i="0">
                <a:solidFill>
                  <a:srgbClr val="1A1F2B"/>
                </a:solidFill>
                <a:latin typeface="Arial"/>
              </a:rPr>
              <a:t>3 'silent' cases trip no flag, yet carry 5 elevated signals. A flag-count model calls them clean.</a:t>
            </a:r>
          </a:p>
          <a:p>
            <a:pPr algn="l" marL="137160" indent="-137160">
              <a:lnSpc>
                <a:spcPct val="100000"/>
              </a:lnSpc>
              <a:spcAft>
                <a:spcPts val="0"/>
              </a:spcAft>
              <a:buChar char="•"/>
            </a:pPr>
            <a:r>
              <a:rPr sz="1050" b="0" i="0">
                <a:solidFill>
                  <a:srgbClr val="1A1F2B"/>
                </a:solidFill>
                <a:latin typeface="Arial"/>
              </a:rPr>
              <a:t>Claim number LTC-2034786 sits on a clean case and a critical one. No single-row rule can see that.</a:t>
            </a:r>
          </a:p>
        </p:txBody>
      </p:sp>
      <p:sp>
        <p:nvSpPr>
          <p:cNvPr id="12" name="Rounded Rectangle 11"/>
          <p:cNvSpPr/>
          <p:nvPr/>
        </p:nvSpPr>
        <p:spPr>
          <a:xfrm>
            <a:off x="457200" y="5440680"/>
            <a:ext cx="4983480" cy="914400"/>
          </a:xfrm>
          <a:prstGeom prst="roundRect">
            <a:avLst>
              <a:gd name="adj" fmla="val 5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l">
              <a:lnSpc>
                <a:spcPct val="100000"/>
              </a:lnSpc>
              <a:spcAft>
                <a:spcPts val="0"/>
              </a:spcAft>
            </a:pPr>
            <a:r>
              <a:rPr sz="1150" b="1" i="0">
                <a:solidFill>
                  <a:srgbClr val="FFFFFF"/>
                </a:solidFill>
                <a:latin typeface="Arial"/>
              </a:rPr>
              <a:t>Design consequence: </a:t>
            </a:r>
            <a:r>
              <a:rPr sz="1150" b="0" i="0">
                <a:solidFill>
                  <a:srgbClr val="FFFFFF"/>
                </a:solidFill>
                <a:latin typeface="Arial"/>
              </a:rPr>
              <a:t>rules take the obvious; AI and humans spend their time on the ambiguous middle and the cross-case links.</a:t>
            </a:r>
          </a:p>
        </p:txBody>
      </p:sp>
      <p:pic>
        <p:nvPicPr>
          <p:cNvPr id="13" name="Picture 12" descr="screenshot_briefing.png"/>
          <p:cNvPicPr>
            <a:picLocks noChangeAspect="1"/>
          </p:cNvPicPr>
          <p:nvPr/>
        </p:nvPicPr>
        <p:blipFill>
          <a:blip r:embed="rId3"/>
          <a:stretch>
            <a:fillRect/>
          </a:stretch>
        </p:blipFill>
        <p:spPr>
          <a:xfrm>
            <a:off x="5669280" y="1325880"/>
            <a:ext cx="6062472" cy="3031236"/>
          </a:xfrm>
          <a:prstGeom prst="rect">
            <a:avLst/>
          </a:prstGeom>
          <a:ln w="12700">
            <a:solidFill>
              <a:srgbClr val="D9DDE7"/>
            </a:solidFill>
          </a:ln>
        </p:spPr>
      </p:pic>
      <p:sp>
        <p:nvSpPr>
          <p:cNvPr id="14" name="TextBox 13"/>
          <p:cNvSpPr txBox="1"/>
          <p:nvPr/>
        </p:nvSpPr>
        <p:spPr>
          <a:xfrm>
            <a:off x="5669280" y="4370832"/>
            <a:ext cx="6062472" cy="292608"/>
          </a:xfrm>
          <a:prstGeom prst="rect">
            <a:avLst/>
          </a:prstGeom>
          <a:noFill/>
        </p:spPr>
        <p:txBody>
          <a:bodyPr wrap="square" anchor="t" lIns="0" tIns="0" rIns="0" bIns="0">
            <a:spAutoFit/>
          </a:bodyPr>
          <a:lstStyle/>
          <a:p>
            <a:pPr algn="l">
              <a:lnSpc>
                <a:spcPct val="100000"/>
              </a:lnSpc>
              <a:spcAft>
                <a:spcPts val="0"/>
              </a:spcAft>
            </a:pPr>
            <a:r>
              <a:rPr sz="900" b="0" i="0">
                <a:solidFill>
                  <a:srgbClr val="5B6478"/>
                </a:solidFill>
                <a:latin typeface="Arial"/>
              </a:rPr>
              <a:t>The running prototype: Morning briefing. Cases the free models could not assess show as “AI-unavailable”; nothing is invented.</a:t>
            </a:r>
          </a:p>
        </p:txBody>
      </p:sp>
      <p:sp>
        <p:nvSpPr>
          <p:cNvPr id="15" name="Rounded Rectangle 14"/>
          <p:cNvSpPr/>
          <p:nvPr/>
        </p:nvSpPr>
        <p:spPr>
          <a:xfrm>
            <a:off x="5669280" y="4681728"/>
            <a:ext cx="1371600" cy="219456"/>
          </a:xfrm>
          <a:prstGeom prst="roundRect">
            <a:avLst>
              <a:gd name="adj" fmla="val 40000"/>
            </a:avLst>
          </a:prstGeom>
          <a:solidFill>
            <a:srgbClr val="3B4F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lstStyle/>
          <a:p>
            <a:pPr algn="ctr">
              <a:lnSpc>
                <a:spcPct val="100000"/>
              </a:lnSpc>
              <a:spcAft>
                <a:spcPts val="0"/>
              </a:spcAft>
            </a:pPr>
            <a:r>
              <a:rPr sz="850" b="1" i="0">
                <a:solidFill>
                  <a:srgbClr val="FFFFFF"/>
                </a:solidFill>
                <a:latin typeface="Arial"/>
              </a:rPr>
              <a:t>BUILT IN PROTOTYPE</a:t>
            </a:r>
          </a:p>
        </p:txBody>
      </p:sp>
      <p:sp>
        <p:nvSpPr>
          <p:cNvPr id="16" name="Rounded Rectangle 15"/>
          <p:cNvSpPr/>
          <p:nvPr/>
        </p:nvSpPr>
        <p:spPr>
          <a:xfrm>
            <a:off x="5669280" y="4956048"/>
            <a:ext cx="3401568" cy="1399032"/>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a:lstStyle/>
          <a:p>
            <a:pPr algn="l" marL="137160" indent="-137160">
              <a:lnSpc>
                <a:spcPct val="100000"/>
              </a:lnSpc>
              <a:spcAft>
                <a:spcPts val="200"/>
              </a:spcAft>
              <a:buChar char="•"/>
            </a:pPr>
            <a:r>
              <a:rPr sz="1000" b="0" i="0">
                <a:solidFill>
                  <a:srgbClr val="1A1F2B"/>
                </a:solidFill>
                <a:latin typeface="Arial"/>
              </a:rPr>
              <a:t>Morning briefing: risk counts, exposure, clusters, abnormal firing</a:t>
            </a:r>
          </a:p>
          <a:p>
            <a:pPr algn="l" marL="137160" indent="-137160">
              <a:lnSpc>
                <a:spcPct val="100000"/>
              </a:lnSpc>
              <a:spcAft>
                <a:spcPts val="200"/>
              </a:spcAft>
              <a:buChar char="•"/>
            </a:pPr>
            <a:r>
              <a:rPr sz="1000" b="0" i="0">
                <a:solidFill>
                  <a:srgbClr val="1A1F2B"/>
                </a:solidFill>
                <a:latin typeface="Arial"/>
              </a:rPr>
              <a:t>Per-case assessment, evidence trace, accept / reject</a:t>
            </a:r>
          </a:p>
          <a:p>
            <a:pPr algn="l" marL="137160" indent="-137160">
              <a:lnSpc>
                <a:spcPct val="100000"/>
              </a:lnSpc>
              <a:spcAft>
                <a:spcPts val="200"/>
              </a:spcAft>
              <a:buChar char="•"/>
            </a:pPr>
            <a:r>
              <a:rPr sz="1000" b="0" i="0">
                <a:solidFill>
                  <a:srgbClr val="1A1F2B"/>
                </a:solidFill>
                <a:latin typeface="Arial"/>
              </a:rPr>
              <a:t>Chat with tools; notes the AI reads</a:t>
            </a:r>
          </a:p>
          <a:p>
            <a:pPr algn="l" marL="137160" indent="-137160">
              <a:lnSpc>
                <a:spcPct val="100000"/>
              </a:lnSpc>
              <a:spcAft>
                <a:spcPts val="200"/>
              </a:spcAft>
              <a:buChar char="•"/>
            </a:pPr>
            <a:r>
              <a:rPr sz="1000" b="0" i="0">
                <a:solidFill>
                  <a:srgbClr val="1A1F2B"/>
                </a:solidFill>
                <a:latin typeface="Arial"/>
              </a:rPr>
              <a:t>Bulk clear, supervisor escalation, audit log</a:t>
            </a:r>
          </a:p>
          <a:p>
            <a:pPr algn="l" marL="137160" indent="-137160">
              <a:lnSpc>
                <a:spcPct val="100000"/>
              </a:lnSpc>
              <a:spcAft>
                <a:spcPts val="0"/>
              </a:spcAft>
              <a:buChar char="•"/>
            </a:pPr>
            <a:r>
              <a:rPr sz="1000" b="0" i="0">
                <a:solidFill>
                  <a:srgbClr val="1A1F2B"/>
                </a:solidFill>
                <a:latin typeface="Arial"/>
              </a:rPr>
              <a:t>Rules tab, Blocklist, fraud-outcome feedback</a:t>
            </a:r>
          </a:p>
        </p:txBody>
      </p:sp>
      <p:sp>
        <p:nvSpPr>
          <p:cNvPr id="17" name="Rounded Rectangle 16"/>
          <p:cNvSpPr/>
          <p:nvPr/>
        </p:nvSpPr>
        <p:spPr>
          <a:xfrm>
            <a:off x="9189720" y="4956048"/>
            <a:ext cx="2542032" cy="1399032"/>
          </a:xfrm>
          <a:prstGeom prst="roundRect">
            <a:avLst>
              <a:gd name="adj" fmla="val 5000"/>
            </a:avLst>
          </a:prstGeom>
          <a:solidFill>
            <a:srgbClr val="FFFFFF"/>
          </a:solidFill>
          <a:ln w="12700">
            <a:solidFill>
              <a:srgbClr val="5B6478"/>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a:lstStyle/>
          <a:p>
            <a:pPr algn="l">
              <a:lnSpc>
                <a:spcPct val="100000"/>
              </a:lnSpc>
              <a:spcAft>
                <a:spcPts val="300"/>
              </a:spcAft>
            </a:pPr>
            <a:r>
              <a:rPr sz="1050" b="1" i="0">
                <a:solidFill>
                  <a:srgbClr val="5B6478"/>
                </a:solidFill>
                <a:latin typeface="Arial"/>
              </a:rPr>
              <a:t>Cut on purpose</a:t>
            </a:r>
          </a:p>
          <a:p>
            <a:pPr algn="l" marL="137160" indent="-137160">
              <a:lnSpc>
                <a:spcPct val="100000"/>
              </a:lnSpc>
              <a:spcAft>
                <a:spcPts val="200"/>
              </a:spcAft>
              <a:buChar char="•"/>
            </a:pPr>
            <a:r>
              <a:rPr sz="1000" b="0" i="0">
                <a:solidFill>
                  <a:srgbClr val="1A1F2B"/>
                </a:solidFill>
                <a:latin typeface="Arial"/>
              </a:rPr>
              <a:t>Auth, multi-tenancy, deploy</a:t>
            </a:r>
          </a:p>
          <a:p>
            <a:pPr algn="l" marL="137160" indent="-137160">
              <a:lnSpc>
                <a:spcPct val="100000"/>
              </a:lnSpc>
              <a:spcAft>
                <a:spcPts val="200"/>
              </a:spcAft>
              <a:buChar char="•"/>
            </a:pPr>
            <a:r>
              <a:rPr sz="1000" b="0" i="0">
                <a:solidFill>
                  <a:srgbClr val="1A1F2B"/>
                </a:solidFill>
                <a:latin typeface="Arial"/>
              </a:rPr>
              <a:t>ML training: no labels</a:t>
            </a:r>
          </a:p>
          <a:p>
            <a:pPr algn="l" marL="137160" indent="-137160">
              <a:lnSpc>
                <a:spcPct val="100000"/>
              </a:lnSpc>
              <a:spcAft>
                <a:spcPts val="0"/>
              </a:spcAft>
              <a:buChar char="•"/>
            </a:pPr>
            <a:r>
              <a:rPr sz="1000" b="0" i="0">
                <a:solidFill>
                  <a:srgbClr val="1A1F2B"/>
                </a:solidFill>
                <a:latin typeface="Arial"/>
              </a:rPr>
              <a:t>Provider / member graph: no IDs in the CSV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566928"/>
          </a:xfrm>
          <a:prstGeom prst="rect">
            <a:avLst/>
          </a:prstGeom>
          <a:noFill/>
        </p:spPr>
        <p:txBody>
          <a:bodyPr wrap="square" anchor="t" lIns="0" tIns="0" rIns="0" bIns="0">
            <a:spAutoFit/>
          </a:bodyPr>
          <a:lstStyle/>
          <a:p>
            <a:pPr algn="l">
              <a:lnSpc>
                <a:spcPct val="100000"/>
              </a:lnSpc>
              <a:spcAft>
                <a:spcPts val="0"/>
              </a:spcAft>
            </a:pPr>
            <a:r>
              <a:rPr sz="2500" b="1" i="0">
                <a:solidFill>
                  <a:srgbClr val="1A1F2B"/>
                </a:solidFill>
                <a:latin typeface="Arial"/>
              </a:rPr>
              <a:t>Rules set the depth; a tool-using agent crew reasons only where it pays</a:t>
            </a:r>
          </a:p>
        </p:txBody>
      </p:sp>
      <p:sp>
        <p:nvSpPr>
          <p:cNvPr id="3" name="TextBox 2"/>
          <p:cNvSpPr txBox="1"/>
          <p:nvPr/>
        </p:nvSpPr>
        <p:spPr>
          <a:xfrm>
            <a:off x="457200" y="850392"/>
            <a:ext cx="11247120" cy="292608"/>
          </a:xfrm>
          <a:prstGeom prst="rect">
            <a:avLst/>
          </a:prstGeom>
          <a:noFill/>
        </p:spPr>
        <p:txBody>
          <a:bodyPr wrap="square" anchor="t" lIns="0" tIns="0" rIns="0" bIns="0">
            <a:spAutoFit/>
          </a:bodyPr>
          <a:lstStyle/>
          <a:p>
            <a:pPr algn="l">
              <a:lnSpc>
                <a:spcPct val="100000"/>
              </a:lnSpc>
              <a:spcAft>
                <a:spcPts val="0"/>
              </a:spcAft>
            </a:pPr>
            <a:r>
              <a:rPr sz="1300" b="0" i="0">
                <a:solidFill>
                  <a:srgbClr val="5B6478"/>
                </a:solidFill>
                <a:latin typeface="Arial"/>
              </a:rPr>
              <a:t>Architecture  ·  how a case is reasoned about, kept grounded, and scaled</a:t>
            </a:r>
          </a:p>
        </p:txBody>
      </p:sp>
      <p:sp>
        <p:nvSpPr>
          <p:cNvPr id="4" name="TextBox 3"/>
          <p:cNvSpPr txBox="1"/>
          <p:nvPr/>
        </p:nvSpPr>
        <p:spPr>
          <a:xfrm>
            <a:off x="457200" y="6473952"/>
            <a:ext cx="8229600" cy="228600"/>
          </a:xfrm>
          <a:prstGeom prst="rect">
            <a:avLst/>
          </a:prstGeom>
          <a:noFill/>
        </p:spPr>
        <p:txBody>
          <a:bodyPr wrap="square" anchor="t" lIns="0" tIns="0" rIns="0" bIns="0">
            <a:spAutoFit/>
          </a:bodyPr>
          <a:lstStyle/>
          <a:p>
            <a:pPr algn="l">
              <a:lnSpc>
                <a:spcPct val="100000"/>
              </a:lnSpc>
              <a:spcAft>
                <a:spcPts val="0"/>
              </a:spcAft>
            </a:pPr>
            <a:r>
              <a:rPr sz="900" b="0" i="0">
                <a:solidFill>
                  <a:srgbClr val="5B6478"/>
                </a:solidFill>
                <a:latin typeface="Arial"/>
              </a:rPr>
              <a:t>Junior AI Investigator  ·  Take-home write-up</a:t>
            </a:r>
          </a:p>
        </p:txBody>
      </p:sp>
      <p:sp>
        <p:nvSpPr>
          <p:cNvPr id="5" name="TextBox 4"/>
          <p:cNvSpPr txBox="1"/>
          <p:nvPr/>
        </p:nvSpPr>
        <p:spPr>
          <a:xfrm>
            <a:off x="10789920" y="6473952"/>
            <a:ext cx="914400" cy="228600"/>
          </a:xfrm>
          <a:prstGeom prst="rect">
            <a:avLst/>
          </a:prstGeom>
          <a:noFill/>
        </p:spPr>
        <p:txBody>
          <a:bodyPr wrap="square" anchor="t" lIns="0" tIns="0" rIns="0" bIns="0">
            <a:spAutoFit/>
          </a:bodyPr>
          <a:lstStyle/>
          <a:p>
            <a:pPr algn="r">
              <a:lnSpc>
                <a:spcPct val="100000"/>
              </a:lnSpc>
              <a:spcAft>
                <a:spcPts val="0"/>
              </a:spcAft>
            </a:pPr>
            <a:r>
              <a:rPr sz="900" b="0" i="0">
                <a:solidFill>
                  <a:srgbClr val="5B6478"/>
                </a:solidFill>
                <a:latin typeface="Arial"/>
              </a:rPr>
              <a:t>2 / 3</a:t>
            </a:r>
          </a:p>
        </p:txBody>
      </p:sp>
      <p:sp>
        <p:nvSpPr>
          <p:cNvPr id="6" name="TextBox 5"/>
          <p:cNvSpPr txBox="1"/>
          <p:nvPr/>
        </p:nvSpPr>
        <p:spPr>
          <a:xfrm>
            <a:off x="6949440" y="850392"/>
            <a:ext cx="4782312" cy="274320"/>
          </a:xfrm>
          <a:prstGeom prst="rect">
            <a:avLst/>
          </a:prstGeom>
          <a:noFill/>
        </p:spPr>
        <p:txBody>
          <a:bodyPr wrap="square" anchor="t" lIns="0" tIns="0" rIns="0" bIns="0">
            <a:spAutoFit/>
          </a:bodyPr>
          <a:lstStyle/>
          <a:p>
            <a:pPr algn="r">
              <a:lnSpc>
                <a:spcPct val="100000"/>
              </a:lnSpc>
              <a:spcAft>
                <a:spcPts val="0"/>
              </a:spcAft>
            </a:pPr>
            <a:r>
              <a:rPr sz="1000" b="1" i="0">
                <a:solidFill>
                  <a:srgbClr val="3B4FD8"/>
                </a:solidFill>
                <a:latin typeface="Arial"/>
              </a:rPr>
              <a:t>Solid = built in the prototype    </a:t>
            </a:r>
            <a:r>
              <a:rPr sz="1000" b="1" i="0">
                <a:solidFill>
                  <a:srgbClr val="5B6478"/>
                </a:solidFill>
                <a:latin typeface="Arial"/>
              </a:rPr>
              <a:t>Dashed = production path, not built</a:t>
            </a:r>
          </a:p>
        </p:txBody>
      </p:sp>
      <p:sp>
        <p:nvSpPr>
          <p:cNvPr id="7" name="Rounded Rectangle 6"/>
          <p:cNvSpPr/>
          <p:nvPr/>
        </p:nvSpPr>
        <p:spPr>
          <a:xfrm>
            <a:off x="457200" y="1298448"/>
            <a:ext cx="2286000" cy="73152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100" b="1" i="0">
                <a:solidFill>
                  <a:srgbClr val="1A1F2B"/>
                </a:solidFill>
                <a:latin typeface="Arial"/>
              </a:rPr>
              <a:t>50-case CSV</a:t>
            </a:r>
          </a:p>
          <a:p>
            <a:pPr algn="ctr">
              <a:lnSpc>
                <a:spcPct val="100000"/>
              </a:lnSpc>
              <a:spcAft>
                <a:spcPts val="0"/>
              </a:spcAft>
            </a:pPr>
            <a:r>
              <a:rPr sz="900" b="0" i="0">
                <a:solidFill>
                  <a:srgbClr val="5B6478"/>
                </a:solidFill>
                <a:latin typeface="Arial"/>
              </a:rPr>
              <a:t>features: log-z, travel, claim links</a:t>
            </a:r>
          </a:p>
        </p:txBody>
      </p:sp>
      <p:sp>
        <p:nvSpPr>
          <p:cNvPr id="8" name="Right Arrow 7"/>
          <p:cNvSpPr/>
          <p:nvPr/>
        </p:nvSpPr>
        <p:spPr>
          <a:xfrm>
            <a:off x="2798064" y="1545336"/>
            <a:ext cx="256032" cy="237744"/>
          </a:xfrm>
          <a:prstGeom prst="rightArrow">
            <a:avLst/>
          </a:prstGeom>
          <a:solidFill>
            <a:srgbClr val="3B4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0" y="1298448"/>
            <a:ext cx="2743200" cy="73152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100" b="1" i="0">
                <a:solidFill>
                  <a:srgbClr val="1A1F2B"/>
                </a:solidFill>
                <a:latin typeface="Arial"/>
              </a:rPr>
              <a:t>17 rules, R01–R17</a:t>
            </a:r>
          </a:p>
          <a:p>
            <a:pPr algn="ctr">
              <a:lnSpc>
                <a:spcPct val="100000"/>
              </a:lnSpc>
              <a:spcAft>
                <a:spcPts val="0"/>
              </a:spcAft>
            </a:pPr>
            <a:r>
              <a:rPr sz="900" b="0" i="0">
                <a:solidFill>
                  <a:srgbClr val="5B6478"/>
                </a:solidFill>
                <a:latin typeface="Arial"/>
              </a:rPr>
              <a:t>thresholds = natural breaks in the data</a:t>
            </a:r>
          </a:p>
        </p:txBody>
      </p:sp>
      <p:sp>
        <p:nvSpPr>
          <p:cNvPr id="10" name="Right Arrow 9"/>
          <p:cNvSpPr/>
          <p:nvPr/>
        </p:nvSpPr>
        <p:spPr>
          <a:xfrm>
            <a:off x="5907024" y="1545336"/>
            <a:ext cx="256032" cy="237744"/>
          </a:xfrm>
          <a:prstGeom prst="rightArrow">
            <a:avLst/>
          </a:prstGeom>
          <a:solidFill>
            <a:srgbClr val="3B4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98448"/>
            <a:ext cx="2651760" cy="73152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100" b="1" i="0">
                <a:solidFill>
                  <a:srgbClr val="1A1F2B"/>
                </a:solidFill>
                <a:latin typeface="Arial"/>
              </a:rPr>
              <a:t>Score 0–100 + level</a:t>
            </a:r>
          </a:p>
          <a:p>
            <a:pPr algn="ctr">
              <a:lnSpc>
                <a:spcPct val="100000"/>
              </a:lnSpc>
              <a:spcAft>
                <a:spcPts val="0"/>
              </a:spcAft>
            </a:pPr>
            <a:r>
              <a:rPr sz="900" b="0" i="0">
                <a:solidFill>
                  <a:srgbClr val="5B6478"/>
                </a:solidFill>
                <a:latin typeface="Arial"/>
              </a:rPr>
              <a:t>top rule per domain, noisy-OR</a:t>
            </a:r>
          </a:p>
        </p:txBody>
      </p:sp>
      <p:sp>
        <p:nvSpPr>
          <p:cNvPr id="12" name="Right Arrow 11"/>
          <p:cNvSpPr/>
          <p:nvPr/>
        </p:nvSpPr>
        <p:spPr>
          <a:xfrm>
            <a:off x="8924544" y="1545336"/>
            <a:ext cx="256032" cy="237744"/>
          </a:xfrm>
          <a:prstGeom prst="rightArrow">
            <a:avLst/>
          </a:prstGeom>
          <a:solidFill>
            <a:srgbClr val="3B4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35440" y="1298448"/>
            <a:ext cx="2496312" cy="731520"/>
          </a:xfrm>
          <a:prstGeom prst="roundRect">
            <a:avLst>
              <a:gd name="adj" fmla="val 5000"/>
            </a:avLst>
          </a:prstGeom>
          <a:solidFill>
            <a:srgbClr val="3B4F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100" b="1" i="0">
                <a:solidFill>
                  <a:srgbClr val="FFFFFF"/>
                </a:solidFill>
                <a:latin typeface="Arial"/>
              </a:rPr>
              <a:t>Router, no LLM</a:t>
            </a:r>
          </a:p>
          <a:p>
            <a:pPr algn="ctr">
              <a:lnSpc>
                <a:spcPct val="100000"/>
              </a:lnSpc>
              <a:spcAft>
                <a:spcPts val="0"/>
              </a:spcAft>
            </a:pPr>
            <a:r>
              <a:rPr sz="900" b="0" i="0">
                <a:solidFill>
                  <a:srgbClr val="FFFFFF"/>
                </a:solidFill>
                <a:latin typeface="Arial"/>
              </a:rPr>
              <a:t>picks depth from the rules</a:t>
            </a:r>
          </a:p>
        </p:txBody>
      </p:sp>
      <p:sp>
        <p:nvSpPr>
          <p:cNvPr id="14" name="Rounded Rectangle 13"/>
          <p:cNvSpPr/>
          <p:nvPr/>
        </p:nvSpPr>
        <p:spPr>
          <a:xfrm>
            <a:off x="457200" y="2176272"/>
            <a:ext cx="2514600" cy="1298448"/>
          </a:xfrm>
          <a:prstGeom prst="roundRect">
            <a:avLst>
              <a:gd name="adj" fmla="val 5000"/>
            </a:avLst>
          </a:prstGeom>
          <a:solidFill>
            <a:srgbClr val="D9F5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300"/>
              </a:spcAft>
            </a:pPr>
            <a:r>
              <a:rPr sz="1200" b="1" i="0">
                <a:solidFill>
                  <a:srgbClr val="0E7A4B"/>
                </a:solidFill>
                <a:latin typeface="Arial"/>
              </a:rPr>
              <a:t>FAST  ·  29 cases</a:t>
            </a:r>
          </a:p>
          <a:p>
            <a:pPr algn="l">
              <a:lnSpc>
                <a:spcPct val="100000"/>
              </a:lnSpc>
              <a:spcAft>
                <a:spcPts val="0"/>
              </a:spcAft>
            </a:pPr>
            <a:r>
              <a:rPr sz="1050" b="0" i="0">
                <a:solidFill>
                  <a:srgbClr val="1A1F2B"/>
                </a:solidFill>
                <a:latin typeface="Arial"/>
              </a:rPr>
              <a:t>No rule fired, no link. One cheap call reviews 5 cases at once.</a:t>
            </a:r>
          </a:p>
        </p:txBody>
      </p:sp>
      <p:sp>
        <p:nvSpPr>
          <p:cNvPr id="15" name="Rounded Rectangle 14"/>
          <p:cNvSpPr/>
          <p:nvPr/>
        </p:nvSpPr>
        <p:spPr>
          <a:xfrm>
            <a:off x="3081528" y="2176272"/>
            <a:ext cx="2514600" cy="1298448"/>
          </a:xfrm>
          <a:prstGeom prst="roundRect">
            <a:avLst>
              <a:gd name="adj" fmla="val 5000"/>
            </a:avLst>
          </a:prstGeom>
          <a:solidFill>
            <a:srgbClr val="FEE4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300"/>
              </a:spcAft>
            </a:pPr>
            <a:r>
              <a:rPr sz="1200" b="1" i="0">
                <a:solidFill>
                  <a:srgbClr val="B42318"/>
                </a:solidFill>
                <a:latin typeface="Arial"/>
              </a:rPr>
              <a:t>OBVIOUS  ·  8 cases</a:t>
            </a:r>
          </a:p>
          <a:p>
            <a:pPr algn="l">
              <a:lnSpc>
                <a:spcPct val="100000"/>
              </a:lnSpc>
              <a:spcAft>
                <a:spcPts val="0"/>
              </a:spcAft>
            </a:pPr>
            <a:r>
              <a:rPr sz="1050" b="0" i="0">
                <a:solidFill>
                  <a:srgbClr val="1A1F2B"/>
                </a:solidFill>
                <a:latin typeface="Arial"/>
              </a:rPr>
              <a:t>Rule level CRITICAL. Verifier only: the facts are unambiguous, so no debate is bought.</a:t>
            </a:r>
          </a:p>
        </p:txBody>
      </p:sp>
      <p:sp>
        <p:nvSpPr>
          <p:cNvPr id="16" name="Rounded Rectangle 15"/>
          <p:cNvSpPr/>
          <p:nvPr/>
        </p:nvSpPr>
        <p:spPr>
          <a:xfrm>
            <a:off x="5705856" y="2176272"/>
            <a:ext cx="6025896" cy="1298448"/>
          </a:xfrm>
          <a:prstGeom prst="roundRect">
            <a:avLst>
              <a:gd name="adj" fmla="val 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300"/>
              </a:spcAft>
            </a:pPr>
            <a:r>
              <a:rPr sz="1200" b="1" i="0">
                <a:solidFill>
                  <a:srgbClr val="A16207"/>
                </a:solidFill>
                <a:latin typeface="Arial"/>
              </a:rPr>
              <a:t>DEEP  ·  13 cases (ambiguous or linked)</a:t>
            </a:r>
          </a:p>
          <a:p>
            <a:pPr algn="l">
              <a:lnSpc>
                <a:spcPct val="100000"/>
              </a:lnSpc>
              <a:spcAft>
                <a:spcPts val="0"/>
              </a:spcAft>
            </a:pPr>
            <a:r>
              <a:rPr sz="1050" b="0" i="0">
                <a:solidFill>
                  <a:srgbClr val="1A1F2B"/>
                </a:solidFill>
                <a:latin typeface="Arial"/>
              </a:rPr>
              <a:t>Specialists in parallel, only where their domain fired (billing · collusion + linkage · geo/utilization, ≤1 tool each)  →  adversarial challenger  →  verifier (strong tier)  →  3-persona panel only if contested.</a:t>
            </a:r>
          </a:p>
        </p:txBody>
      </p:sp>
      <p:sp>
        <p:nvSpPr>
          <p:cNvPr id="17" name="Rounded Rectangle 16"/>
          <p:cNvSpPr/>
          <p:nvPr/>
        </p:nvSpPr>
        <p:spPr>
          <a:xfrm>
            <a:off x="457200" y="3593592"/>
            <a:ext cx="11274552" cy="512064"/>
          </a:xfrm>
          <a:prstGeom prst="roundRect">
            <a:avLst>
              <a:gd name="adj" fmla="val 12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l">
              <a:lnSpc>
                <a:spcPct val="100000"/>
              </a:lnSpc>
              <a:spcAft>
                <a:spcPts val="0"/>
              </a:spcAft>
            </a:pPr>
            <a:r>
              <a:rPr sz="1000" b="1" i="0">
                <a:solidFill>
                  <a:srgbClr val="FFFFFF"/>
                </a:solidFill>
                <a:latin typeface="Arial"/>
              </a:rPr>
              <a:t>VERIFICATION BOUNDARY, deterministic code and not the model:  </a:t>
            </a:r>
            <a:r>
              <a:rPr sz="1000" b="0" i="0">
                <a:solidFill>
                  <a:srgbClr val="FFFFFF"/>
                </a:solidFill>
                <a:latin typeface="Arial"/>
              </a:rPr>
              <a:t>citations re-checked against the record  ·  score moves ≤ 20, level derived  ·  no CLEAR on HIGH/CRITICAL or fraud lookalike  ·  failure = “LLM unavailable”</a:t>
            </a:r>
          </a:p>
        </p:txBody>
      </p:sp>
      <p:sp>
        <p:nvSpPr>
          <p:cNvPr id="18" name="TextBox 17"/>
          <p:cNvSpPr txBox="1"/>
          <p:nvPr/>
        </p:nvSpPr>
        <p:spPr>
          <a:xfrm>
            <a:off x="457200" y="4279392"/>
            <a:ext cx="6675120" cy="201168"/>
          </a:xfrm>
          <a:prstGeom prst="rect">
            <a:avLst/>
          </a:prstGeom>
          <a:noFill/>
        </p:spPr>
        <p:txBody>
          <a:bodyPr wrap="square" anchor="t" lIns="0" tIns="0" rIns="0" bIns="0">
            <a:spAutoFit/>
          </a:bodyPr>
          <a:lstStyle/>
          <a:p>
            <a:pPr algn="l">
              <a:lnSpc>
                <a:spcPct val="100000"/>
              </a:lnSpc>
              <a:spcAft>
                <a:spcPts val="0"/>
              </a:spcAft>
            </a:pPr>
            <a:r>
              <a:rPr sz="950" b="1" i="0">
                <a:solidFill>
                  <a:srgbClr val="5B6478"/>
                </a:solidFill>
                <a:latin typeface="Arial"/>
              </a:rPr>
              <a:t>MEASURED ON THE 50 CASES  (docs/EVAL.md)</a:t>
            </a:r>
          </a:p>
        </p:txBody>
      </p:sp>
      <p:sp>
        <p:nvSpPr>
          <p:cNvPr id="19" name="Rounded Rectangle 18"/>
          <p:cNvSpPr/>
          <p:nvPr/>
        </p:nvSpPr>
        <p:spPr>
          <a:xfrm>
            <a:off x="457200" y="4535424"/>
            <a:ext cx="1554480" cy="786384"/>
          </a:xfrm>
          <a:prstGeom prst="roundRect">
            <a:avLst>
              <a:gd name="adj" fmla="val 5000"/>
            </a:avLst>
          </a:prstGeom>
          <a:solidFill>
            <a:srgbClr val="D9F5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0E7A4B"/>
                </a:solidFill>
                <a:latin typeface="Arial"/>
              </a:rPr>
              <a:t>10 / 10</a:t>
            </a:r>
          </a:p>
          <a:p>
            <a:pPr algn="ctr">
              <a:lnSpc>
                <a:spcPct val="100000"/>
              </a:lnSpc>
              <a:spcAft>
                <a:spcPts val="0"/>
              </a:spcAft>
            </a:pPr>
            <a:r>
              <a:rPr sz="1000" b="0" i="0">
                <a:solidFill>
                  <a:srgbClr val="5B6478"/>
                </a:solidFill>
                <a:latin typeface="Arial"/>
              </a:rPr>
              <a:t>behavioural invariants</a:t>
            </a:r>
          </a:p>
        </p:txBody>
      </p:sp>
      <p:sp>
        <p:nvSpPr>
          <p:cNvPr id="20" name="Rounded Rectangle 19"/>
          <p:cNvSpPr/>
          <p:nvPr/>
        </p:nvSpPr>
        <p:spPr>
          <a:xfrm>
            <a:off x="2103120" y="4535424"/>
            <a:ext cx="1554480" cy="786384"/>
          </a:xfrm>
          <a:prstGeom prst="roundRect">
            <a:avLst>
              <a:gd name="adj" fmla="val 5000"/>
            </a:avLst>
          </a:prstGeom>
          <a:solidFill>
            <a:srgbClr val="D9F5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0E7A4B"/>
                </a:solidFill>
                <a:latin typeface="Arial"/>
              </a:rPr>
              <a:t>5 / 5</a:t>
            </a:r>
          </a:p>
          <a:p>
            <a:pPr algn="ctr">
              <a:lnSpc>
                <a:spcPct val="100000"/>
              </a:lnSpc>
              <a:spcAft>
                <a:spcPts val="0"/>
              </a:spcAft>
            </a:pPr>
            <a:r>
              <a:rPr sz="1000" b="0" i="0">
                <a:solidFill>
                  <a:srgbClr val="5B6478"/>
                </a:solidFill>
                <a:latin typeface="Arial"/>
              </a:rPr>
              <a:t>counterfactual tests</a:t>
            </a:r>
          </a:p>
        </p:txBody>
      </p:sp>
      <p:sp>
        <p:nvSpPr>
          <p:cNvPr id="21" name="Rounded Rectangle 20"/>
          <p:cNvSpPr/>
          <p:nvPr/>
        </p:nvSpPr>
        <p:spPr>
          <a:xfrm>
            <a:off x="3749039" y="4535424"/>
            <a:ext cx="1554480" cy="786384"/>
          </a:xfrm>
          <a:prstGeom prst="roundRect">
            <a:avLst>
              <a:gd name="adj" fmla="val 5000"/>
            </a:avLst>
          </a:prstGeom>
          <a:solidFill>
            <a:srgbClr val="D9F5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0E7A4B"/>
                </a:solidFill>
                <a:latin typeface="Arial"/>
              </a:rPr>
              <a:t>277 / 277</a:t>
            </a:r>
          </a:p>
          <a:p>
            <a:pPr algn="ctr">
              <a:lnSpc>
                <a:spcPct val="100000"/>
              </a:lnSpc>
              <a:spcAft>
                <a:spcPts val="0"/>
              </a:spcAft>
            </a:pPr>
            <a:r>
              <a:rPr sz="1000" b="0" i="0">
                <a:solidFill>
                  <a:srgbClr val="5B6478"/>
                </a:solidFill>
                <a:latin typeface="Arial"/>
              </a:rPr>
              <a:t>indicators re-verified</a:t>
            </a:r>
          </a:p>
        </p:txBody>
      </p:sp>
      <p:sp>
        <p:nvSpPr>
          <p:cNvPr id="22" name="Rounded Rectangle 21"/>
          <p:cNvSpPr/>
          <p:nvPr/>
        </p:nvSpPr>
        <p:spPr>
          <a:xfrm>
            <a:off x="5394960" y="4535424"/>
            <a:ext cx="1554480" cy="786384"/>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3B4FD8"/>
                </a:solidFill>
                <a:latin typeface="Arial"/>
              </a:rPr>
              <a:t>−27%</a:t>
            </a:r>
          </a:p>
          <a:p>
            <a:pPr algn="ctr">
              <a:lnSpc>
                <a:spcPct val="100000"/>
              </a:lnSpc>
              <a:spcAft>
                <a:spcPts val="0"/>
              </a:spcAft>
            </a:pPr>
            <a:r>
              <a:rPr sz="1000" b="0" i="0">
                <a:solidFill>
                  <a:srgbClr val="5B6478"/>
                </a:solidFill>
                <a:latin typeface="Arial"/>
              </a:rPr>
              <a:t>tokens vs single judge</a:t>
            </a:r>
          </a:p>
        </p:txBody>
      </p:sp>
      <p:sp>
        <p:nvSpPr>
          <p:cNvPr id="23" name="Rounded Rectangle 22"/>
          <p:cNvSpPr/>
          <p:nvPr/>
        </p:nvSpPr>
        <p:spPr>
          <a:xfrm>
            <a:off x="457200" y="5431536"/>
            <a:ext cx="6675120" cy="923544"/>
          </a:xfrm>
          <a:prstGeom prst="roundRect">
            <a:avLst>
              <a:gd name="adj" fmla="val 5000"/>
            </a:avLst>
          </a:prstGeom>
          <a:solidFill>
            <a:srgbClr val="F4F5F8"/>
          </a:solidFill>
          <a:ln w="12700">
            <a:solidFill>
              <a:srgbClr val="D9DDE7"/>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a:lstStyle/>
          <a:p>
            <a:pPr algn="l" marL="137160" indent="-137160">
              <a:lnSpc>
                <a:spcPct val="100000"/>
              </a:lnSpc>
              <a:spcAft>
                <a:spcPts val="300"/>
              </a:spcAft>
              <a:buChar char="•"/>
            </a:pPr>
            <a:r>
              <a:rPr sz="1000" b="0" i="0">
                <a:solidFill>
                  <a:srgbClr val="1A1F2B"/>
                </a:solidFill>
                <a:latin typeface="Arial"/>
              </a:rPr>
              <a:t>Same 100% band agreement as the single-judge baseline; a new note re-runs 2 calls, not 5 (specialists reused by evidence hash).</a:t>
            </a:r>
          </a:p>
          <a:p>
            <a:pPr algn="l" marL="137160" indent="-137160">
              <a:lnSpc>
                <a:spcPct val="100000"/>
              </a:lnSpc>
              <a:spcAft>
                <a:spcPts val="0"/>
              </a:spcAft>
              <a:buChar char="•"/>
            </a:pPr>
            <a:r>
              <a:rPr sz="1000" b="0" i="0">
                <a:solidFill>
                  <a:srgbClr val="1A1F2B"/>
                </a:solidFill>
                <a:latin typeface="Arial"/>
              </a:rPr>
              <a:t>Honest cost: $0.44 vs $0.12 reference, because the verifier uses the strong tier. Weak spot found: the challenger rates every case “medium”.</a:t>
            </a:r>
          </a:p>
        </p:txBody>
      </p:sp>
      <p:sp>
        <p:nvSpPr>
          <p:cNvPr id="24" name="Rounded Rectangle 23"/>
          <p:cNvSpPr/>
          <p:nvPr/>
        </p:nvSpPr>
        <p:spPr>
          <a:xfrm>
            <a:off x="7315200" y="4279392"/>
            <a:ext cx="2011680" cy="219456"/>
          </a:xfrm>
          <a:prstGeom prst="roundRect">
            <a:avLst>
              <a:gd name="adj" fmla="val 40000"/>
            </a:avLst>
          </a:prstGeom>
          <a:solidFill>
            <a:srgbClr val="FFFFFF"/>
          </a:solidFill>
          <a:ln w="12700">
            <a:solidFill>
              <a:srgbClr val="5B64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lstStyle/>
          <a:p>
            <a:pPr algn="ctr">
              <a:lnSpc>
                <a:spcPct val="100000"/>
              </a:lnSpc>
              <a:spcAft>
                <a:spcPts val="0"/>
              </a:spcAft>
            </a:pPr>
            <a:r>
              <a:rPr sz="850" b="1" i="0">
                <a:solidFill>
                  <a:srgbClr val="5B6478"/>
                </a:solidFill>
                <a:latin typeface="Arial"/>
              </a:rPr>
              <a:t>PRODUCTION PATH: NOT BUILT</a:t>
            </a:r>
          </a:p>
        </p:txBody>
      </p:sp>
      <p:sp>
        <p:nvSpPr>
          <p:cNvPr id="25" name="Rounded Rectangle 24"/>
          <p:cNvSpPr/>
          <p:nvPr/>
        </p:nvSpPr>
        <p:spPr>
          <a:xfrm>
            <a:off x="7315200" y="4553712"/>
            <a:ext cx="4416552" cy="1801368"/>
          </a:xfrm>
          <a:prstGeom prst="roundRect">
            <a:avLst>
              <a:gd name="adj" fmla="val 5000"/>
            </a:avLst>
          </a:prstGeom>
          <a:solidFill>
            <a:srgbClr val="FFFFFF"/>
          </a:solidFill>
          <a:ln w="12700">
            <a:solidFill>
              <a:srgbClr val="5B6478"/>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128016" tIns="82296" rIns="109728" bIns="54864"/>
          <a:lstStyle/>
          <a:p>
            <a:pPr algn="l">
              <a:lnSpc>
                <a:spcPct val="100000"/>
              </a:lnSpc>
              <a:spcAft>
                <a:spcPts val="400"/>
              </a:spcAft>
            </a:pPr>
            <a:r>
              <a:rPr sz="1000" b="1" i="0">
                <a:solidFill>
                  <a:srgbClr val="1A1F2B"/>
                </a:solidFill>
                <a:latin typeface="Arial"/>
              </a:rPr>
              <a:t>Prototype limits: </a:t>
            </a:r>
            <a:r>
              <a:rPr sz="1000" b="0" i="0">
                <a:solidFill>
                  <a:srgbClr val="1A1F2B"/>
                </a:solidFill>
                <a:latin typeface="Arial"/>
              </a:rPr>
              <a:t>SQLite, in-process workers, O(n) similarity, ~4 sequential hops (≈65 s on free models): right for a morning batch, not per click.</a:t>
            </a:r>
          </a:p>
          <a:p>
            <a:pPr algn="l">
              <a:lnSpc>
                <a:spcPct val="100000"/>
              </a:lnSpc>
              <a:spcAft>
                <a:spcPts val="0"/>
              </a:spcAft>
            </a:pPr>
            <a:r>
              <a:rPr sz="1000" b="1" i="0">
                <a:solidFill>
                  <a:srgbClr val="1A1F2B"/>
                </a:solidFill>
                <a:latin typeface="Arial"/>
              </a:rPr>
              <a:t>Beyond 50 cases: </a:t>
            </a:r>
            <a:r>
              <a:rPr sz="1000" b="0" i="0">
                <a:solidFill>
                  <a:srgbClr val="1A1F2B"/>
                </a:solidFill>
                <a:latin typeface="Arial"/>
              </a:rPr>
              <a:t>Postgres + queue workers; vector index for similarity; per-tenant budgets; streaming UI. Router stays O(1) per case, so spend lands on the hard tail (a real queue has a bigger FAST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566928"/>
          </a:xfrm>
          <a:prstGeom prst="rect">
            <a:avLst/>
          </a:prstGeom>
          <a:noFill/>
        </p:spPr>
        <p:txBody>
          <a:bodyPr wrap="square" anchor="t" lIns="0" tIns="0" rIns="0" bIns="0">
            <a:spAutoFit/>
          </a:bodyPr>
          <a:lstStyle/>
          <a:p>
            <a:pPr algn="l">
              <a:lnSpc>
                <a:spcPct val="100000"/>
              </a:lnSpc>
              <a:spcAft>
                <a:spcPts val="0"/>
              </a:spcAft>
            </a:pPr>
            <a:r>
              <a:rPr sz="2500" b="1" i="0">
                <a:solidFill>
                  <a:srgbClr val="1A1F2B"/>
                </a:solidFill>
                <a:latin typeface="Arial"/>
              </a:rPr>
              <a:t>The AI advises, humans decide, and the known risks are named</a:t>
            </a:r>
          </a:p>
        </p:txBody>
      </p:sp>
      <p:sp>
        <p:nvSpPr>
          <p:cNvPr id="3" name="TextBox 2"/>
          <p:cNvSpPr txBox="1"/>
          <p:nvPr/>
        </p:nvSpPr>
        <p:spPr>
          <a:xfrm>
            <a:off x="457200" y="850392"/>
            <a:ext cx="11247120" cy="292608"/>
          </a:xfrm>
          <a:prstGeom prst="rect">
            <a:avLst/>
          </a:prstGeom>
          <a:noFill/>
        </p:spPr>
        <p:txBody>
          <a:bodyPr wrap="square" anchor="t" lIns="0" tIns="0" rIns="0" bIns="0">
            <a:spAutoFit/>
          </a:bodyPr>
          <a:lstStyle/>
          <a:p>
            <a:pPr algn="l">
              <a:lnSpc>
                <a:spcPct val="100000"/>
              </a:lnSpc>
              <a:spcAft>
                <a:spcPts val="0"/>
              </a:spcAft>
            </a:pPr>
            <a:r>
              <a:rPr sz="1300" b="0" i="0">
                <a:solidFill>
                  <a:srgbClr val="5B6478"/>
                </a:solidFill>
                <a:latin typeface="Arial"/>
              </a:rPr>
              <a:t>Human in the loop  ·  trade-offs  ·  what I would do with more time</a:t>
            </a:r>
          </a:p>
        </p:txBody>
      </p:sp>
      <p:sp>
        <p:nvSpPr>
          <p:cNvPr id="4" name="TextBox 3"/>
          <p:cNvSpPr txBox="1"/>
          <p:nvPr/>
        </p:nvSpPr>
        <p:spPr>
          <a:xfrm>
            <a:off x="457200" y="6473952"/>
            <a:ext cx="8229600" cy="228600"/>
          </a:xfrm>
          <a:prstGeom prst="rect">
            <a:avLst/>
          </a:prstGeom>
          <a:noFill/>
        </p:spPr>
        <p:txBody>
          <a:bodyPr wrap="square" anchor="t" lIns="0" tIns="0" rIns="0" bIns="0">
            <a:spAutoFit/>
          </a:bodyPr>
          <a:lstStyle/>
          <a:p>
            <a:pPr algn="l">
              <a:lnSpc>
                <a:spcPct val="100000"/>
              </a:lnSpc>
              <a:spcAft>
                <a:spcPts val="0"/>
              </a:spcAft>
            </a:pPr>
            <a:r>
              <a:rPr sz="900" b="0" i="0">
                <a:solidFill>
                  <a:srgbClr val="5B6478"/>
                </a:solidFill>
                <a:latin typeface="Arial"/>
              </a:rPr>
              <a:t>Junior AI Investigator  ·  Take-home write-up</a:t>
            </a:r>
          </a:p>
        </p:txBody>
      </p:sp>
      <p:sp>
        <p:nvSpPr>
          <p:cNvPr id="5" name="TextBox 4"/>
          <p:cNvSpPr txBox="1"/>
          <p:nvPr/>
        </p:nvSpPr>
        <p:spPr>
          <a:xfrm>
            <a:off x="10789920" y="6473952"/>
            <a:ext cx="914400" cy="228600"/>
          </a:xfrm>
          <a:prstGeom prst="rect">
            <a:avLst/>
          </a:prstGeom>
          <a:noFill/>
        </p:spPr>
        <p:txBody>
          <a:bodyPr wrap="square" anchor="t" lIns="0" tIns="0" rIns="0" bIns="0">
            <a:spAutoFit/>
          </a:bodyPr>
          <a:lstStyle/>
          <a:p>
            <a:pPr algn="r">
              <a:lnSpc>
                <a:spcPct val="100000"/>
              </a:lnSpc>
              <a:spcAft>
                <a:spcPts val="0"/>
              </a:spcAft>
            </a:pPr>
            <a:r>
              <a:rPr sz="900" b="0" i="0">
                <a:solidFill>
                  <a:srgbClr val="5B6478"/>
                </a:solidFill>
                <a:latin typeface="Arial"/>
              </a:rPr>
              <a:t>3 / 3</a:t>
            </a:r>
          </a:p>
        </p:txBody>
      </p:sp>
      <p:sp>
        <p:nvSpPr>
          <p:cNvPr id="6" name="Rounded Rectangle 5"/>
          <p:cNvSpPr/>
          <p:nvPr/>
        </p:nvSpPr>
        <p:spPr>
          <a:xfrm>
            <a:off x="457200" y="1298448"/>
            <a:ext cx="1371600" cy="219456"/>
          </a:xfrm>
          <a:prstGeom prst="roundRect">
            <a:avLst>
              <a:gd name="adj" fmla="val 40000"/>
            </a:avLst>
          </a:prstGeom>
          <a:solidFill>
            <a:srgbClr val="3B4F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lstStyle/>
          <a:p>
            <a:pPr algn="ctr">
              <a:lnSpc>
                <a:spcPct val="100000"/>
              </a:lnSpc>
              <a:spcAft>
                <a:spcPts val="0"/>
              </a:spcAft>
            </a:pPr>
            <a:r>
              <a:rPr sz="850" b="1" i="0">
                <a:solidFill>
                  <a:srgbClr val="FFFFFF"/>
                </a:solidFill>
                <a:latin typeface="Arial"/>
              </a:rPr>
              <a:t>BUILT IN PROTOTYPE</a:t>
            </a:r>
          </a:p>
        </p:txBody>
      </p:sp>
      <p:sp>
        <p:nvSpPr>
          <p:cNvPr id="7" name="Rounded Rectangle 6"/>
          <p:cNvSpPr/>
          <p:nvPr/>
        </p:nvSpPr>
        <p:spPr>
          <a:xfrm>
            <a:off x="457200" y="1572768"/>
            <a:ext cx="3749039" cy="4782312"/>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250" b="1" i="0">
                <a:solidFill>
                  <a:srgbClr val="3B4FD8"/>
                </a:solidFill>
                <a:latin typeface="Arial"/>
              </a:rPr>
              <a:t>How an investigator trusts, checks and overrides</a:t>
            </a:r>
          </a:p>
          <a:p>
            <a:pPr algn="l">
              <a:lnSpc>
                <a:spcPct val="100000"/>
              </a:lnSpc>
              <a:spcAft>
                <a:spcPts val="500"/>
              </a:spcAft>
            </a:pPr>
            <a:r>
              <a:rPr sz="1050" b="1" i="0">
                <a:solidFill>
                  <a:srgbClr val="3B4FD8"/>
                </a:solidFill>
                <a:latin typeface="Arial"/>
              </a:rPr>
              <a:t>AI can: </a:t>
            </a:r>
            <a:r>
              <a:rPr sz="1050" b="0" i="0">
                <a:solidFill>
                  <a:srgbClr val="1A1F2B"/>
                </a:solidFill>
                <a:latin typeface="Arial"/>
              </a:rPr>
              <a:t>rank and explain, recommend an action, draft an escalation, answer questions using tools.</a:t>
            </a:r>
          </a:p>
          <a:p>
            <a:pPr algn="l">
              <a:lnSpc>
                <a:spcPct val="100000"/>
              </a:lnSpc>
              <a:spcAft>
                <a:spcPts val="700"/>
              </a:spcAft>
            </a:pPr>
            <a:r>
              <a:rPr sz="1050" b="1" i="0">
                <a:solidFill>
                  <a:srgbClr val="B42318"/>
                </a:solidFill>
                <a:latin typeface="Arial"/>
              </a:rPr>
              <a:t>Only a human can: </a:t>
            </a:r>
            <a:r>
              <a:rPr sz="1050" b="0" i="0">
                <a:solidFill>
                  <a:srgbClr val="1A1F2B"/>
                </a:solidFill>
                <a:latin typeface="Arial"/>
              </a:rPr>
              <a:t>clear, escalate, mark fraud, delete a note. Supervisors alone: override a decline, activate a hard rule.</a:t>
            </a:r>
          </a:p>
          <a:p>
            <a:pPr algn="l" marL="137160" indent="-137160">
              <a:lnSpc>
                <a:spcPct val="100000"/>
              </a:lnSpc>
              <a:spcAft>
                <a:spcPts val="400"/>
              </a:spcAft>
              <a:buChar char="•"/>
            </a:pPr>
            <a:r>
              <a:rPr sz="1050" b="0" i="0">
                <a:solidFill>
                  <a:srgbClr val="1A1F2B"/>
                </a:solidFill>
                <a:latin typeface="Arial"/>
              </a:rPr>
              <a:t>Rule score and AI score side by side</a:t>
            </a:r>
          </a:p>
          <a:p>
            <a:pPr algn="l" marL="137160" indent="-137160">
              <a:lnSpc>
                <a:spcPct val="100000"/>
              </a:lnSpc>
              <a:spcAft>
                <a:spcPts val="400"/>
              </a:spcAft>
              <a:buChar char="•"/>
            </a:pPr>
            <a:r>
              <a:rPr sz="1050" b="0" i="0">
                <a:solidFill>
                  <a:srgbClr val="1A1F2B"/>
                </a:solidFill>
                <a:latin typeface="Arial"/>
              </a:rPr>
              <a:t>Every indicator cites field = value; accept ✓ or reject ✗, and a rejected finding is not re-asserted</a:t>
            </a:r>
          </a:p>
          <a:p>
            <a:pPr algn="l" marL="137160" indent="-137160">
              <a:lnSpc>
                <a:spcPct val="100000"/>
              </a:lnSpc>
              <a:spcAft>
                <a:spcPts val="400"/>
              </a:spcAft>
              <a:buChar char="•"/>
            </a:pPr>
            <a:r>
              <a:rPr sz="1050" b="0" i="0">
                <a:solidFill>
                  <a:srgbClr val="1A1F2B"/>
                </a:solidFill>
                <a:latin typeface="Arial"/>
              </a:rPr>
              <a:t>Full agent trace and guardrail removals visible</a:t>
            </a:r>
          </a:p>
          <a:p>
            <a:pPr algn="l" marL="137160" indent="-137160">
              <a:lnSpc>
                <a:spcPct val="100000"/>
              </a:lnSpc>
              <a:spcAft>
                <a:spcPts val="400"/>
              </a:spcAft>
              <a:buChar char="•"/>
            </a:pPr>
            <a:r>
              <a:rPr sz="1050" b="0" i="0">
                <a:solidFill>
                  <a:srgbClr val="1A1F2B"/>
                </a:solidFill>
                <a:latin typeface="Arial"/>
              </a:rPr>
              <a:t>A note changes the next assessment; deleting it purges it everywhere</a:t>
            </a:r>
          </a:p>
          <a:p>
            <a:pPr algn="l" marL="137160" indent="-137160">
              <a:lnSpc>
                <a:spcPct val="100000"/>
              </a:lnSpc>
              <a:spcAft>
                <a:spcPts val="400"/>
              </a:spcAft>
              <a:buChar char="•"/>
            </a:pPr>
            <a:r>
              <a:rPr sz="1050" b="0" i="0">
                <a:solidFill>
                  <a:srgbClr val="1A1F2B"/>
                </a:solidFill>
                <a:latin typeface="Arial"/>
              </a:rPr>
              <a:t>Every action needs a reason and lands in the audit log</a:t>
            </a:r>
          </a:p>
          <a:p>
            <a:pPr algn="l" marL="137160" indent="-137160">
              <a:lnSpc>
                <a:spcPct val="100000"/>
              </a:lnSpc>
              <a:spcAft>
                <a:spcPts val="400"/>
              </a:spcAft>
              <a:buChar char="•"/>
            </a:pPr>
            <a:r>
              <a:rPr sz="1050" b="0" i="0">
                <a:solidFill>
                  <a:srgbClr val="1A1F2B"/>
                </a:solidFill>
                <a:latin typeface="Arial"/>
              </a:rPr>
              <a:t>Bulk clear previews what is blocked, and why</a:t>
            </a:r>
          </a:p>
          <a:p>
            <a:pPr algn="l" marL="137160" indent="-137160">
              <a:lnSpc>
                <a:spcPct val="100000"/>
              </a:lnSpc>
              <a:spcAft>
                <a:spcPts val="0"/>
              </a:spcAft>
              <a:buChar char="•"/>
            </a:pPr>
            <a:r>
              <a:rPr sz="1050" b="0" i="0">
                <a:solidFill>
                  <a:srgbClr val="1A1F2B"/>
                </a:solidFill>
                <a:latin typeface="Arial"/>
              </a:rPr>
              <a:t>“Mark as FRAUD” teaches the system: lookalikes get flagged (R17)</a:t>
            </a:r>
          </a:p>
        </p:txBody>
      </p:sp>
      <p:sp>
        <p:nvSpPr>
          <p:cNvPr id="8" name="Rounded Rectangle 7"/>
          <p:cNvSpPr/>
          <p:nvPr/>
        </p:nvSpPr>
        <p:spPr>
          <a:xfrm>
            <a:off x="4343400" y="1298448"/>
            <a:ext cx="1371600" cy="219456"/>
          </a:xfrm>
          <a:prstGeom prst="roundRect">
            <a:avLst>
              <a:gd name="adj" fmla="val 40000"/>
            </a:avLst>
          </a:prstGeom>
          <a:solidFill>
            <a:srgbClr val="3B4F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lstStyle/>
          <a:p>
            <a:pPr algn="ctr">
              <a:lnSpc>
                <a:spcPct val="100000"/>
              </a:lnSpc>
              <a:spcAft>
                <a:spcPts val="0"/>
              </a:spcAft>
            </a:pPr>
            <a:r>
              <a:rPr sz="850" b="1" i="0">
                <a:solidFill>
                  <a:srgbClr val="FFFFFF"/>
                </a:solidFill>
                <a:latin typeface="Arial"/>
              </a:rPr>
              <a:t>BUILT IN PROTOTYPE</a:t>
            </a:r>
          </a:p>
        </p:txBody>
      </p:sp>
      <p:sp>
        <p:nvSpPr>
          <p:cNvPr id="9" name="Rounded Rectangle 8"/>
          <p:cNvSpPr/>
          <p:nvPr/>
        </p:nvSpPr>
        <p:spPr>
          <a:xfrm>
            <a:off x="4343400" y="1572768"/>
            <a:ext cx="3749039" cy="4782312"/>
          </a:xfrm>
          <a:prstGeom prst="roundRect">
            <a:avLst>
              <a:gd name="adj" fmla="val 5000"/>
            </a:avLst>
          </a:prstGeom>
          <a:solidFill>
            <a:srgbClr val="F4F5F8"/>
          </a:solidFill>
          <a:ln w="12700">
            <a:solidFill>
              <a:srgbClr val="D9DDE7"/>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250" b="1" i="0">
                <a:solidFill>
                  <a:srgbClr val="3B4FD8"/>
                </a:solidFill>
                <a:latin typeface="Arial"/>
              </a:rPr>
              <a:t>Trade-offs and risks I see</a:t>
            </a:r>
          </a:p>
          <a:p>
            <a:pPr algn="l">
              <a:lnSpc>
                <a:spcPct val="100000"/>
              </a:lnSpc>
              <a:spcAft>
                <a:spcPts val="500"/>
              </a:spcAft>
            </a:pPr>
            <a:r>
              <a:rPr sz="1050" b="1" i="0">
                <a:solidFill>
                  <a:srgbClr val="1A1F2B"/>
                </a:solidFill>
                <a:latin typeface="Arial"/>
              </a:rPr>
              <a:t>Accuracy. </a:t>
            </a:r>
            <a:r>
              <a:rPr sz="1050" b="0" i="0">
                <a:solidFill>
                  <a:srgbClr val="1A1F2B"/>
                </a:solidFill>
                <a:latin typeface="Arial"/>
              </a:rPr>
              <a:t>No labels, so no accuracy claim. Backtests use synthetic labels (leave-one-out) and measure agreement, not fraud.</a:t>
            </a:r>
          </a:p>
          <a:p>
            <a:pPr algn="l">
              <a:lnSpc>
                <a:spcPct val="100000"/>
              </a:lnSpc>
              <a:spcAft>
                <a:spcPts val="500"/>
              </a:spcAft>
            </a:pPr>
            <a:r>
              <a:rPr sz="1050" b="1" i="0">
                <a:solidFill>
                  <a:srgbClr val="B42318"/>
                </a:solidFill>
                <a:latin typeface="Arial"/>
              </a:rPr>
              <a:t>False negatives. </a:t>
            </a:r>
            <a:r>
              <a:rPr sz="1050" b="0" i="0">
                <a:solidFill>
                  <a:srgbClr val="1A1F2B"/>
                </a:solidFill>
                <a:latin typeface="Arial"/>
              </a:rPr>
              <a:t>The costliest risk; only discovered misses can be measured. Guardrails stop the AI clearing anything risky, but do not find what the rules missed.</a:t>
            </a:r>
          </a:p>
          <a:p>
            <a:pPr algn="l">
              <a:lnSpc>
                <a:spcPct val="100000"/>
              </a:lnSpc>
              <a:spcAft>
                <a:spcPts val="500"/>
              </a:spcAft>
            </a:pPr>
            <a:r>
              <a:rPr sz="1050" b="1" i="0">
                <a:solidFill>
                  <a:srgbClr val="1A1F2B"/>
                </a:solidFill>
                <a:latin typeface="Arial"/>
              </a:rPr>
              <a:t>Cost and latency. </a:t>
            </a:r>
            <a:r>
              <a:rPr sz="1050" b="0" i="0">
                <a:solidFill>
                  <a:srgbClr val="1A1F2B"/>
                </a:solidFill>
                <a:latin typeface="Arial"/>
              </a:rPr>
              <a:t>Fewer tokens, more reference dollars ($0.44 vs $0.12). About 20 s per call; free models rate-limit, so some cases show “LLM unavailable”.</a:t>
            </a:r>
          </a:p>
          <a:p>
            <a:pPr algn="l">
              <a:lnSpc>
                <a:spcPct val="100000"/>
              </a:lnSpc>
              <a:spcAft>
                <a:spcPts val="500"/>
              </a:spcAft>
            </a:pPr>
            <a:r>
              <a:rPr sz="1050" b="1" i="0">
                <a:solidFill>
                  <a:srgbClr val="1A1F2B"/>
                </a:solidFill>
                <a:latin typeface="Arial"/>
              </a:rPr>
              <a:t>Trust. </a:t>
            </a:r>
            <a:r>
              <a:rPr sz="1050" b="0" i="0">
                <a:solidFill>
                  <a:srgbClr val="1A1F2B"/>
                </a:solidFill>
                <a:latin typeface="Arial"/>
              </a:rPr>
              <a:t>Cited fields are verified; the prose is not. It can still be subtly wrong.</a:t>
            </a:r>
          </a:p>
          <a:p>
            <a:pPr algn="l">
              <a:lnSpc>
                <a:spcPct val="100000"/>
              </a:lnSpc>
              <a:spcAft>
                <a:spcPts val="500"/>
              </a:spcAft>
            </a:pPr>
            <a:r>
              <a:rPr sz="1050" b="1" i="0">
                <a:solidFill>
                  <a:srgbClr val="1A1F2B"/>
                </a:solidFill>
                <a:latin typeface="Arial"/>
              </a:rPr>
              <a:t>Abuse. </a:t>
            </a:r>
            <a:r>
              <a:rPr sz="1050" b="0" i="0">
                <a:solidFill>
                  <a:srgbClr val="1A1F2B"/>
                </a:solidFill>
                <a:latin typeface="Arial"/>
              </a:rPr>
              <a:t>Notes are untrusted (injection tests pass); bulk clear is guarded; blocklist entries covering over 25% of the queue need confirmation.</a:t>
            </a:r>
          </a:p>
          <a:p>
            <a:pPr algn="l">
              <a:lnSpc>
                <a:spcPct val="100000"/>
              </a:lnSpc>
              <a:spcAft>
                <a:spcPts val="0"/>
              </a:spcAft>
            </a:pPr>
            <a:r>
              <a:rPr sz="1050" b="1" i="0">
                <a:solidFill>
                  <a:srgbClr val="1A1F2B"/>
                </a:solidFill>
                <a:latin typeface="Arial"/>
              </a:rPr>
              <a:t>Fairness. </a:t>
            </a:r>
            <a:r>
              <a:rPr sz="1050" b="0" i="0">
                <a:solidFill>
                  <a:srgbClr val="1A1F2B"/>
                </a:solidFill>
                <a:latin typeface="Arial"/>
              </a:rPr>
              <a:t>Distance and weekend signals can proxy for rural or shift-work providers.</a:t>
            </a:r>
          </a:p>
        </p:txBody>
      </p:sp>
      <p:sp>
        <p:nvSpPr>
          <p:cNvPr id="10" name="Rounded Rectangle 9"/>
          <p:cNvSpPr/>
          <p:nvPr/>
        </p:nvSpPr>
        <p:spPr>
          <a:xfrm>
            <a:off x="8229600" y="1298448"/>
            <a:ext cx="2011680" cy="219456"/>
          </a:xfrm>
          <a:prstGeom prst="roundRect">
            <a:avLst>
              <a:gd name="adj" fmla="val 40000"/>
            </a:avLst>
          </a:prstGeom>
          <a:solidFill>
            <a:srgbClr val="FFFFFF"/>
          </a:solidFill>
          <a:ln w="12700">
            <a:solidFill>
              <a:srgbClr val="5B64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lstStyle/>
          <a:p>
            <a:pPr algn="ctr">
              <a:lnSpc>
                <a:spcPct val="100000"/>
              </a:lnSpc>
              <a:spcAft>
                <a:spcPts val="0"/>
              </a:spcAft>
            </a:pPr>
            <a:r>
              <a:rPr sz="850" b="1" i="0">
                <a:solidFill>
                  <a:srgbClr val="5B6478"/>
                </a:solidFill>
                <a:latin typeface="Arial"/>
              </a:rPr>
              <a:t>PRODUCTION PATH: NOT BUILT</a:t>
            </a:r>
          </a:p>
        </p:txBody>
      </p:sp>
      <p:sp>
        <p:nvSpPr>
          <p:cNvPr id="11" name="Rounded Rectangle 10"/>
          <p:cNvSpPr/>
          <p:nvPr/>
        </p:nvSpPr>
        <p:spPr>
          <a:xfrm>
            <a:off x="8229600" y="1572768"/>
            <a:ext cx="3502152" cy="4782312"/>
          </a:xfrm>
          <a:prstGeom prst="roundRect">
            <a:avLst>
              <a:gd name="adj" fmla="val 5000"/>
            </a:avLst>
          </a:prstGeom>
          <a:solidFill>
            <a:srgbClr val="FFFFFF"/>
          </a:solidFill>
          <a:ln w="12700">
            <a:solidFill>
              <a:srgbClr val="5B6478"/>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250" b="1" i="0">
                <a:solidFill>
                  <a:srgbClr val="3B4FD8"/>
                </a:solidFill>
                <a:latin typeface="Arial"/>
              </a:rPr>
              <a:t>With more time, in priority order</a:t>
            </a:r>
          </a:p>
          <a:p>
            <a:pPr algn="l">
              <a:lnSpc>
                <a:spcPct val="100000"/>
              </a:lnSpc>
              <a:spcAft>
                <a:spcPts val="600"/>
              </a:spcAft>
            </a:pPr>
            <a:r>
              <a:rPr sz="1050" b="1" i="0">
                <a:solidFill>
                  <a:srgbClr val="1A1F2B"/>
                </a:solidFill>
                <a:latin typeface="Arial"/>
              </a:rPr>
              <a:t>1  False-negative safety net. </a:t>
            </a:r>
            <a:r>
              <a:rPr sz="1050" b="0" i="0">
                <a:solidFill>
                  <a:srgbClr val="1A1F2B"/>
                </a:solidFill>
                <a:latin typeface="Arial"/>
              </a:rPr>
              <a:t>Miss-rate tracking from confirmed outcomes; a look-back that reopens cleared lookalikes; an independent adversarial reviewer; audit sampling with a statistical bound.</a:t>
            </a:r>
          </a:p>
          <a:p>
            <a:pPr algn="l">
              <a:lnSpc>
                <a:spcPct val="100000"/>
              </a:lnSpc>
              <a:spcAft>
                <a:spcPts val="600"/>
              </a:spcAft>
            </a:pPr>
            <a:r>
              <a:rPr sz="1050" b="1" i="0">
                <a:solidFill>
                  <a:srgbClr val="1A1F2B"/>
                </a:solidFill>
                <a:latin typeface="Arial"/>
              </a:rPr>
              <a:t>2  Learn from outcomes. </a:t>
            </a:r>
            <a:r>
              <a:rPr sz="1050" b="0" i="0">
                <a:solidFill>
                  <a:srgbClr val="1A1F2B"/>
                </a:solidFill>
                <a:latin typeface="Arial"/>
              </a:rPr>
              <a:t>Re-fit weights and thresholds from confirmed fraud.</a:t>
            </a:r>
          </a:p>
          <a:p>
            <a:pPr algn="l">
              <a:lnSpc>
                <a:spcPct val="100000"/>
              </a:lnSpc>
              <a:spcAft>
                <a:spcPts val="600"/>
              </a:spcAft>
            </a:pPr>
            <a:r>
              <a:rPr sz="1050" b="1" i="0">
                <a:solidFill>
                  <a:srgbClr val="1A1F2B"/>
                </a:solidFill>
                <a:latin typeface="Arial"/>
              </a:rPr>
              <a:t>3  Provider / member graph </a:t>
            </a:r>
            <a:r>
              <a:rPr sz="1050" b="0" i="0">
                <a:solidFill>
                  <a:srgbClr val="1A1F2B"/>
                </a:solidFill>
                <a:latin typeface="Arial"/>
              </a:rPr>
              <a:t>and a labelled backtest, once real IDs and labels exist.</a:t>
            </a:r>
          </a:p>
          <a:p>
            <a:pPr algn="l">
              <a:lnSpc>
                <a:spcPct val="100000"/>
              </a:lnSpc>
              <a:spcAft>
                <a:spcPts val="1000"/>
              </a:spcAft>
            </a:pPr>
            <a:r>
              <a:rPr sz="1050" b="1" i="0">
                <a:solidFill>
                  <a:srgbClr val="1A1F2B"/>
                </a:solidFill>
                <a:latin typeface="Arial"/>
              </a:rPr>
              <a:t>4  Four-eyes </a:t>
            </a:r>
            <a:r>
              <a:rPr sz="1050" b="0" i="0">
                <a:solidFill>
                  <a:srgbClr val="1A1F2B"/>
                </a:solidFill>
                <a:latin typeface="Arial"/>
              </a:rPr>
              <a:t>on large bulk clears; streaming UI.</a:t>
            </a:r>
          </a:p>
          <a:p>
            <a:pPr algn="l">
              <a:lnSpc>
                <a:spcPct val="100000"/>
              </a:lnSpc>
              <a:spcAft>
                <a:spcPts val="0"/>
              </a:spcAft>
            </a:pPr>
            <a:r>
              <a:rPr sz="1000" b="0" i="0">
                <a:solidFill>
                  <a:srgbClr val="5B6478"/>
                </a:solidFill>
                <a:latin typeface="Arial"/>
              </a:rPr>
              <a:t>Prototyped, then deferred: a statistical anomaly detector. On 50 cases its flagged set changed with the random seed, so I would not ship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