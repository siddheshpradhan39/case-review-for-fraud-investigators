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USER is a fraud investigator and their supervisor. Every morning an engine hands them a queue of referrals, and most of those turn out benign. Today they paste a claim number into a legacy tool and read nine signals a case, one case at a time. The cost is not the fraud they find, it is the hours spent on the cases that were never fraud.</a:t>
            </a:r>
          </a:p>
          <a:p/>
          <a:p>
            <a:r>
              <a:t>THE JOB TO BE DONE: decide quickly, and defensibly, which referrals deserve human time; and on the ones that do, get the evidence, the reasoning and a recommended next step without assembling it by hand.</a:t>
            </a:r>
          </a:p>
          <a:p/>
          <a:p>
            <a:r>
              <a:t>THE DATA SHAPED THE BUILD. The 50-case sample splits three ways: 8 cases extreme on every signal, 9 genuinely ambiguous, 33 clean. That split is the whole product thesis: deterministic rules are enough for the 8 and the 33, so the expensive reasoning belongs to the 9. Two patterns no row-by-row engine can see: three cases trip no flag at all yet carry five elevated signals, and one claim number (LTC-2034786) sits on both a clean case and a critical one.</a:t>
            </a:r>
          </a:p>
          <a:p/>
          <a:p>
            <a:r>
              <a:t>WHAT I CUT AND WHY: auth, multi-tenancy and deployment are explicitly out of scope in the brief. I did not train a model because the data has no fraud labels, so any accuracy number would be invented. A provider/member graph needs IDs the CSV does not contain; the code supports them the day a dataset does.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ONE LLM CALL, AND NOT AGENTS EVERYWHERE. Deterministic rules score every case first — 17 rules whose thresholds come from natural breaks in the data, not from guesses — and a router with no LLM in it reads the fired rules and picks the depth. 58% of the queue fired nothing and is unlinked: those share one cheap batched call, five cases at a time. 16% are rule-CRITICAL, where the facts are not in doubt, so buying a debate would be waste: one verifier call. The remaining 26% are the ambiguous or linked cases, and only those get the full crew: specialists in parallel for the domains that actually fired (billing, collusion and linkage, geography and utilisation, one tool each), an adversarial challenger that argues the benign reading, a verifier on the strong model tier, and a three-persona panel that convenes only when the case is still contested.</a:t>
            </a:r>
          </a:p>
          <a:p/>
          <a:p>
            <a:r>
              <a:t>TOOL USE, NOT RETRIEVAL. Nine read-only tools query the real record — peer statistics, similar cases, linked claim numbers, notes, the rule catalogue, cluster context. No vector store and no RAG: the corpus is 50 structured rows, so SQL answers exactly, and embeddings would only add a way to be wrong.</a:t>
            </a:r>
          </a:p>
          <a:p/>
          <a:p>
            <a:r>
              <a:t>GROUNDING IS CODE, NOT PROMPTING. Every field=value the model cites is re-checked against the record before it is stored; the model may move the score by at most 20 points and the level is derived from the number, not chosen; it cannot recommend clearing a HIGH/CRITICAL case or a confirmed-fraud lookalike; and when the model fails, the case says LLM unavailable instead of showing invented text. Measured across the 50 cases: 10/10 behavioural invariants, 5/5 counterfactual and prompt-injection tests, 277/277 stored indicators re-verify.</a:t>
            </a:r>
          </a:p>
          <a:p/>
          <a:p>
            <a:r>
              <a:t>SCALE. The router is free and O(1), so spend lands on the hard tail — and a real queue has a larger clean share than this sample. Against a single-judge baseline the crew agrees on the band 100% of the time with 27% fewer tokens, and a new note re-runs two calls instead of five because specialists are reused by evidence hash. The honest limits are SQLite, in-process workers and O(n) similarity.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HEADLINE: the data has no fraud labels, so nothing in this build claims accuracy. What I can evidence is behaviour — invariants that hold whatever the model says, grounding that survives an independent re-check, and adversarial tests that pass. Everything else on this slide is named risk, not solved risk.</a:t>
            </a:r>
          </a:p>
          <a:p/>
          <a:p>
            <a:r>
              <a:t>FALSE NEGATIVES ARE THE ASYMMETRIC RISK. A false positive costs an investigator an hour; a false negative pays a fraudulent claim and never shows up in a metric. The guardrails stop the AI clearing anything risky, but they cannot find what the rules never flagged — which is exactly why the safety net is the first item on the roadmap rather than a nice-to-have.</a:t>
            </a:r>
          </a:p>
          <a:p/>
          <a:p>
            <a:r>
              <a:t>COST AND LATENCY, MEASURED NOT GUESSED. The crew uses 27% fewer tokens than a single judge but costs more in reference dollars ($0.44 vs $0.12 across 50 cases) because the verifier runs on the strong tier — I would rather state that plainly than claim the architecture is cheaper on every axis. At roughly 20 seconds a call on free models, this is a morning batch job, not a per-click interaction, and the UI is built around that.</a:t>
            </a:r>
          </a:p>
          <a:p/>
          <a:p>
            <a:r>
              <a:t>ABUSE AND FAIRNESS. Notes are untrusted input and injection tests pass. Bulk clear previews what it cannot touch. A blocklist entry covering more than a quarter of the queue demands explicit confirmation. On fairness, distance and weekend-billing signals can proxy for rural or shift-work providers — worth auditing before any real deployment.</a:t>
            </a:r>
          </a:p>
          <a:p/>
          <a:p>
            <a:r>
              <a:t>MY OWN EVALS FOUND WEAKNESSES: the challenger rates nearly every case 'medium' plausibility, and confidence barely separates contested from uncontested cases. Both are reported rather than hidden.</a:t>
            </a:r>
          </a:p>
          <a:p/>
          <a:p>
            <a:r>
              <a:t>DEFERRED ON PURPOSE: I prototyped a statistical anomaly detector and shelved it — at 50 cases its flagged set changed with the random seed, and a detector that unstable erodes trust faster than it finds fraud.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 LINE: no agent in this system can change the state of a case. The AI ranks, explains, recommends and drafts; clearing, escalating, declining, confirming fraud and deleting a note are human actions, each one requiring a written reason and each one landing in an audit log. That is enforced in the service layer, not requested in a prompt.</a:t>
            </a:r>
          </a:p>
          <a:p/>
          <a:p>
            <a:r>
              <a:t>TRUST IS BUILT FROM FOUR THINGS. First, both scores are shown side by side, so the investigator always sees where the model moved away from the deterministic rules and by how much. Second, every indicator cites the field and value it came from, and can be accepted or rejected with one click — a rejected finding is not re-asserted on the next run. Third, the full agent trace is visible: which specialists ran, what the challenger argued, what the guardrails removed and why, and what each step cost. Fourth, every action carries a reason into the audit log.</a:t>
            </a:r>
          </a:p>
          <a:p/>
          <a:p>
            <a:r>
              <a:t>NOTES ARE THE STEERING WHEEL. An investigator's note changes the next assessment — the case is marked stale the moment its inputs change — and the chatbot can quote it. Deleting a note purges it everywhere: assessments, chat history, related-case context. Notes are also treated as untrusted text, so an instruction hidden inside one is not obeyed; that is covered by passing injection tests.</a:t>
            </a:r>
          </a:p>
          <a:p/>
          <a:p>
            <a:r>
              <a:t>AUTHORITY IS SPLIT. Investigators propose blocklist entries; supervisors enact them. Only a supervisor can override an auto-decline, and only with a written reason that becomes a case note and counts against the entry that fired it as a false-positive signal. Escalations carry an AI-drafted handoff, and the supervisor approves or returns them.</a:t>
            </a:r>
          </a:p>
          <a:p/>
          <a:p>
            <a:r>
              <a:t>DEMO PATH: add a note and watch the assessment go stale, ask the chatbot about it, then delete it; run a guarded bulk clear; decline a case from the blocklist and override it as the supervisor.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185855" cy="457200"/>
          </a:xfrm>
          <a:prstGeom prst="rect">
            <a:avLst/>
          </a:prstGeom>
          <a:noFill/>
        </p:spPr>
        <p:txBody>
          <a:bodyPr wrap="square" anchor="t" lIns="0" tIns="0" rIns="0" bIns="0">
            <a:spAutoFit/>
          </a:bodyPr>
          <a:lstStyle/>
          <a:p>
            <a:pPr algn="l">
              <a:lnSpc>
                <a:spcPct val="100000"/>
              </a:lnSpc>
              <a:spcAft>
                <a:spcPts val="0"/>
              </a:spcAft>
            </a:pPr>
            <a:r>
              <a:rPr sz="2600" b="1">
                <a:solidFill>
                  <a:srgbClr val="0F172A"/>
                </a:solidFill>
                <a:latin typeface="Arial"/>
              </a:rPr>
              <a:t>Investigators should open to a queue that is already triaged</a:t>
            </a:r>
          </a:p>
        </p:txBody>
      </p:sp>
      <p:sp>
        <p:nvSpPr>
          <p:cNvPr id="3" name="TextBox 2"/>
          <p:cNvSpPr txBox="1"/>
          <p:nvPr/>
        </p:nvSpPr>
        <p:spPr>
          <a:xfrm>
            <a:off x="502920" y="841248"/>
            <a:ext cx="11185855" cy="256032"/>
          </a:xfrm>
          <a:prstGeom prst="rect">
            <a:avLst/>
          </a:prstGeom>
          <a:noFill/>
        </p:spPr>
        <p:txBody>
          <a:bodyPr wrap="square" anchor="t" lIns="0" tIns="0" rIns="0" bIns="0">
            <a:spAutoFit/>
          </a:bodyPr>
          <a:lstStyle/>
          <a:p>
            <a:pPr algn="l">
              <a:lnSpc>
                <a:spcPct val="100000"/>
              </a:lnSpc>
              <a:spcAft>
                <a:spcPts val="0"/>
              </a:spcAft>
            </a:pPr>
            <a:r>
              <a:rPr sz="1150" b="0">
                <a:solidFill>
                  <a:srgbClr val="64748B"/>
                </a:solidFill>
                <a:latin typeface="Arial"/>
              </a:rPr>
              <a:t>The user · the job to be done · what I built and what I left out</a:t>
            </a:r>
          </a:p>
        </p:txBody>
      </p:sp>
      <p:sp>
        <p:nvSpPr>
          <p:cNvPr id="4" name="Rectangle 3"/>
          <p:cNvSpPr/>
          <p:nvPr/>
        </p:nvSpPr>
        <p:spPr>
          <a:xfrm>
            <a:off x="502920" y="1152144"/>
            <a:ext cx="11185855"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10528"/>
            <a:ext cx="7315200" cy="219456"/>
          </a:xfrm>
          <a:prstGeom prst="rect">
            <a:avLst/>
          </a:prstGeom>
          <a:noFill/>
        </p:spPr>
        <p:txBody>
          <a:bodyPr wrap="square" anchor="t" lIns="0" tIns="0" rIns="0" bIns="0">
            <a:spAutoFit/>
          </a:bodyPr>
          <a:lstStyle/>
          <a:p>
            <a:pPr algn="l">
              <a:lnSpc>
                <a:spcPct val="100000"/>
              </a:lnSpc>
              <a:spcAft>
                <a:spcPts val="0"/>
              </a:spcAft>
            </a:pPr>
            <a:r>
              <a:rPr sz="850" b="0">
                <a:solidFill>
                  <a:srgbClr val="94A3B8"/>
                </a:solidFill>
                <a:latin typeface="Arial"/>
              </a:rPr>
              <a:t>Junior AI Investigator  ·  AI-first case review for fraud investigators</a:t>
            </a:r>
          </a:p>
        </p:txBody>
      </p:sp>
      <p:sp>
        <p:nvSpPr>
          <p:cNvPr id="6" name="TextBox 5"/>
          <p:cNvSpPr txBox="1"/>
          <p:nvPr/>
        </p:nvSpPr>
        <p:spPr>
          <a:xfrm>
            <a:off x="10774375" y="6510528"/>
            <a:ext cx="914400" cy="219456"/>
          </a:xfrm>
          <a:prstGeom prst="rect">
            <a:avLst/>
          </a:prstGeom>
          <a:noFill/>
        </p:spPr>
        <p:txBody>
          <a:bodyPr wrap="square" anchor="t" lIns="0" tIns="0" rIns="0" bIns="0">
            <a:spAutoFit/>
          </a:bodyPr>
          <a:lstStyle/>
          <a:p>
            <a:pPr algn="r">
              <a:lnSpc>
                <a:spcPct val="100000"/>
              </a:lnSpc>
              <a:spcAft>
                <a:spcPts val="0"/>
              </a:spcAft>
            </a:pPr>
            <a:r>
              <a:rPr sz="850" b="0">
                <a:solidFill>
                  <a:srgbClr val="94A3B8"/>
                </a:solidFill>
                <a:latin typeface="Arial"/>
              </a:rPr>
              <a:t>1 / 4</a:t>
            </a:r>
          </a:p>
        </p:txBody>
      </p:sp>
      <p:sp>
        <p:nvSpPr>
          <p:cNvPr id="7" name="Rounded Rectangle 6"/>
          <p:cNvSpPr/>
          <p:nvPr/>
        </p:nvSpPr>
        <p:spPr>
          <a:xfrm>
            <a:off x="502920" y="1371600"/>
            <a:ext cx="5532120" cy="1298448"/>
          </a:xfrm>
          <a:prstGeom prst="roundRect">
            <a:avLst>
              <a:gd name="adj" fmla="val 4500"/>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tIns="109728" rIns="128016" bIns="91440"/>
          <a:lstStyle/>
          <a:p>
            <a:pPr algn="l">
              <a:lnSpc>
                <a:spcPct val="100000"/>
              </a:lnSpc>
              <a:spcAft>
                <a:spcPts val="600"/>
              </a:spcAft>
            </a:pPr>
            <a:r>
              <a:rPr sz="1000" b="1">
                <a:solidFill>
                  <a:srgbClr val="1D4ED8"/>
                </a:solidFill>
                <a:latin typeface="Arial"/>
              </a:rPr>
              <a:t>The user</a:t>
            </a:r>
          </a:p>
          <a:p>
            <a:pPr algn="l">
              <a:lnSpc>
                <a:spcPct val="115000"/>
              </a:lnSpc>
              <a:spcAft>
                <a:spcPts val="0"/>
              </a:spcAft>
            </a:pPr>
            <a:r>
              <a:rPr sz="1250" b="0">
                <a:solidFill>
                  <a:srgbClr val="0F172A"/>
                </a:solidFill>
                <a:latin typeface="Arial"/>
              </a:rPr>
              <a:t>A fraud investigator and their supervisor, facing a daily queue of engine referrals that mostly turn out benign.</a:t>
            </a:r>
          </a:p>
        </p:txBody>
      </p:sp>
      <p:sp>
        <p:nvSpPr>
          <p:cNvPr id="8" name="Rounded Rectangle 7"/>
          <p:cNvSpPr/>
          <p:nvPr/>
        </p:nvSpPr>
        <p:spPr>
          <a:xfrm>
            <a:off x="6144768" y="1371600"/>
            <a:ext cx="5541264" cy="1298448"/>
          </a:xfrm>
          <a:prstGeom prst="roundRect">
            <a:avLst>
              <a:gd name="adj" fmla="val 4500"/>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tIns="109728" rIns="128016" bIns="91440"/>
          <a:lstStyle/>
          <a:p>
            <a:pPr algn="l">
              <a:lnSpc>
                <a:spcPct val="100000"/>
              </a:lnSpc>
              <a:spcAft>
                <a:spcPts val="600"/>
              </a:spcAft>
            </a:pPr>
            <a:r>
              <a:rPr sz="1000" b="1">
                <a:solidFill>
                  <a:srgbClr val="1D4ED8"/>
                </a:solidFill>
                <a:latin typeface="Arial"/>
              </a:rPr>
              <a:t>The job to be done</a:t>
            </a:r>
          </a:p>
          <a:p>
            <a:pPr algn="l">
              <a:lnSpc>
                <a:spcPct val="115000"/>
              </a:lnSpc>
              <a:spcAft>
                <a:spcPts val="0"/>
              </a:spcAft>
            </a:pPr>
            <a:r>
              <a:rPr sz="1250" b="0">
                <a:solidFill>
                  <a:srgbClr val="0F172A"/>
                </a:solidFill>
                <a:latin typeface="Arial"/>
              </a:rPr>
              <a:t>Decide fast, and defensibly, which referrals deserve human time — and on those, get the evidence and the next step without assembling it by hand.</a:t>
            </a:r>
          </a:p>
        </p:txBody>
      </p:sp>
      <p:sp>
        <p:nvSpPr>
          <p:cNvPr id="9" name="TextBox 8"/>
          <p:cNvSpPr txBox="1"/>
          <p:nvPr/>
        </p:nvSpPr>
        <p:spPr>
          <a:xfrm>
            <a:off x="502920" y="2871216"/>
            <a:ext cx="5486400" cy="201168"/>
          </a:xfrm>
          <a:prstGeom prst="rect">
            <a:avLst/>
          </a:prstGeom>
          <a:noFill/>
        </p:spPr>
        <p:txBody>
          <a:bodyPr wrap="square" anchor="t" lIns="0" tIns="0" rIns="0" bIns="0">
            <a:spAutoFit/>
          </a:bodyPr>
          <a:lstStyle/>
          <a:p>
            <a:pPr algn="l">
              <a:lnSpc>
                <a:spcPct val="100000"/>
              </a:lnSpc>
              <a:spcAft>
                <a:spcPts val="0"/>
              </a:spcAft>
            </a:pPr>
            <a:r>
              <a:rPr sz="900" b="1">
                <a:solidFill>
                  <a:srgbClr val="94A3B8"/>
                </a:solidFill>
                <a:latin typeface="Arial"/>
              </a:rPr>
              <a:t>WHAT THE 50-CASE SAMPLE SHOWED</a:t>
            </a:r>
          </a:p>
        </p:txBody>
      </p:sp>
      <p:sp>
        <p:nvSpPr>
          <p:cNvPr id="10" name="Rounded Rectangle 9"/>
          <p:cNvSpPr/>
          <p:nvPr/>
        </p:nvSpPr>
        <p:spPr>
          <a:xfrm>
            <a:off x="502920" y="3127248"/>
            <a:ext cx="3630168" cy="987552"/>
          </a:xfrm>
          <a:prstGeom prst="roundRect">
            <a:avLst>
              <a:gd name="adj" fmla="val 4500"/>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54864" rIns="73152" bIns="54864"/>
          <a:lstStyle/>
          <a:p>
            <a:pPr algn="ctr">
              <a:lnSpc>
                <a:spcPct val="100000"/>
              </a:lnSpc>
              <a:spcAft>
                <a:spcPts val="200"/>
              </a:spcAft>
            </a:pPr>
            <a:r>
              <a:rPr sz="3000" b="1">
                <a:solidFill>
                  <a:srgbClr val="B91C1C"/>
                </a:solidFill>
                <a:latin typeface="Arial"/>
              </a:rPr>
              <a:t>8</a:t>
            </a:r>
          </a:p>
          <a:p>
            <a:pPr algn="ctr">
              <a:lnSpc>
                <a:spcPct val="95000"/>
              </a:lnSpc>
              <a:spcAft>
                <a:spcPts val="0"/>
              </a:spcAft>
            </a:pPr>
            <a:r>
              <a:rPr sz="950" b="0">
                <a:solidFill>
                  <a:srgbClr val="64748B"/>
                </a:solidFill>
                <a:latin typeface="Arial"/>
              </a:rPr>
              <a:t>extreme on every signal</a:t>
            </a:r>
          </a:p>
        </p:txBody>
      </p:sp>
      <p:sp>
        <p:nvSpPr>
          <p:cNvPr id="11" name="Rounded Rectangle 10"/>
          <p:cNvSpPr/>
          <p:nvPr/>
        </p:nvSpPr>
        <p:spPr>
          <a:xfrm>
            <a:off x="4242816" y="3127248"/>
            <a:ext cx="3630168" cy="987552"/>
          </a:xfrm>
          <a:prstGeom prst="roundRect">
            <a:avLst>
              <a:gd name="adj" fmla="val 4500"/>
            </a:avLst>
          </a:prstGeom>
          <a:solidFill>
            <a:srgbClr val="FF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54864" rIns="73152" bIns="54864"/>
          <a:lstStyle/>
          <a:p>
            <a:pPr algn="ctr">
              <a:lnSpc>
                <a:spcPct val="100000"/>
              </a:lnSpc>
              <a:spcAft>
                <a:spcPts val="200"/>
              </a:spcAft>
            </a:pPr>
            <a:r>
              <a:rPr sz="3000" b="1">
                <a:solidFill>
                  <a:srgbClr val="C2410C"/>
                </a:solidFill>
                <a:latin typeface="Arial"/>
              </a:rPr>
              <a:t>9</a:t>
            </a:r>
          </a:p>
          <a:p>
            <a:pPr algn="ctr">
              <a:lnSpc>
                <a:spcPct val="95000"/>
              </a:lnSpc>
              <a:spcAft>
                <a:spcPts val="0"/>
              </a:spcAft>
            </a:pPr>
            <a:r>
              <a:rPr sz="950" b="0">
                <a:solidFill>
                  <a:srgbClr val="64748B"/>
                </a:solidFill>
                <a:latin typeface="Arial"/>
              </a:rPr>
              <a:t>genuinely ambiguous</a:t>
            </a:r>
          </a:p>
        </p:txBody>
      </p:sp>
      <p:sp>
        <p:nvSpPr>
          <p:cNvPr id="12" name="Rounded Rectangle 11"/>
          <p:cNvSpPr/>
          <p:nvPr/>
        </p:nvSpPr>
        <p:spPr>
          <a:xfrm>
            <a:off x="7982712" y="3127248"/>
            <a:ext cx="3703320" cy="987552"/>
          </a:xfrm>
          <a:prstGeom prst="roundRect">
            <a:avLst>
              <a:gd name="adj" fmla="val 4500"/>
            </a:avLst>
          </a:prstGeom>
          <a:solidFill>
            <a:srgbClr val="E6F5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tIns="54864" rIns="73152" bIns="54864"/>
          <a:lstStyle/>
          <a:p>
            <a:pPr algn="ctr">
              <a:lnSpc>
                <a:spcPct val="100000"/>
              </a:lnSpc>
              <a:spcAft>
                <a:spcPts val="200"/>
              </a:spcAft>
            </a:pPr>
            <a:r>
              <a:rPr sz="3000" b="1">
                <a:solidFill>
                  <a:srgbClr val="047857"/>
                </a:solidFill>
                <a:latin typeface="Arial"/>
              </a:rPr>
              <a:t>33</a:t>
            </a:r>
          </a:p>
          <a:p>
            <a:pPr algn="ctr">
              <a:lnSpc>
                <a:spcPct val="95000"/>
              </a:lnSpc>
              <a:spcAft>
                <a:spcPts val="0"/>
              </a:spcAft>
            </a:pPr>
            <a:r>
              <a:rPr sz="950" b="0">
                <a:solidFill>
                  <a:srgbClr val="64748B"/>
                </a:solidFill>
                <a:latin typeface="Arial"/>
              </a:rPr>
              <a:t>clean</a:t>
            </a:r>
          </a:p>
        </p:txBody>
      </p:sp>
      <p:sp>
        <p:nvSpPr>
          <p:cNvPr id="13" name="Rounded Rectangle 12"/>
          <p:cNvSpPr/>
          <p:nvPr/>
        </p:nvSpPr>
        <p:spPr>
          <a:xfrm>
            <a:off x="502920" y="4242816"/>
            <a:ext cx="11183112" cy="566928"/>
          </a:xfrm>
          <a:prstGeom prst="roundRect">
            <a:avLst>
              <a:gd name="adj" fmla="val 9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73152" rIns="182880" bIns="73152"/>
          <a:lstStyle/>
          <a:p>
            <a:pPr algn="l">
              <a:lnSpc>
                <a:spcPct val="115000"/>
              </a:lnSpc>
              <a:spcAft>
                <a:spcPts val="0"/>
              </a:spcAft>
            </a:pPr>
            <a:r>
              <a:rPr sz="1100" b="1">
                <a:solidFill>
                  <a:srgbClr val="FFFFFF"/>
                </a:solidFill>
                <a:latin typeface="Arial"/>
              </a:rPr>
              <a:t>So: rules take the obvious 41. Agents and humans spend their time on the 9 — plus the links no single row reveals: </a:t>
            </a:r>
            <a:r>
              <a:rPr sz="1100" b="0">
                <a:solidFill>
                  <a:srgbClr val="CBD5E1"/>
                </a:solidFill>
                <a:latin typeface="Arial"/>
              </a:rPr>
              <a:t>3 cases trip no flag yet carry five elevated signals, and one claim number sits on a clean case and a critical one.</a:t>
            </a:r>
          </a:p>
        </p:txBody>
      </p:sp>
      <p:sp>
        <p:nvSpPr>
          <p:cNvPr id="14" name="TextBox 13"/>
          <p:cNvSpPr txBox="1"/>
          <p:nvPr/>
        </p:nvSpPr>
        <p:spPr>
          <a:xfrm>
            <a:off x="502920" y="5029200"/>
            <a:ext cx="5486400" cy="201168"/>
          </a:xfrm>
          <a:prstGeom prst="rect">
            <a:avLst/>
          </a:prstGeom>
          <a:noFill/>
        </p:spPr>
        <p:txBody>
          <a:bodyPr wrap="square" anchor="t" lIns="0" tIns="0" rIns="0" bIns="0">
            <a:spAutoFit/>
          </a:bodyPr>
          <a:lstStyle/>
          <a:p>
            <a:pPr algn="l">
              <a:lnSpc>
                <a:spcPct val="100000"/>
              </a:lnSpc>
              <a:spcAft>
                <a:spcPts val="0"/>
              </a:spcAft>
            </a:pPr>
            <a:r>
              <a:rPr sz="900" b="1">
                <a:solidFill>
                  <a:srgbClr val="1D4ED8"/>
                </a:solidFill>
                <a:latin typeface="Arial"/>
              </a:rPr>
              <a:t>BUILT IN THE PROTOTYPE</a:t>
            </a:r>
          </a:p>
        </p:txBody>
      </p:sp>
      <p:sp>
        <p:nvSpPr>
          <p:cNvPr id="15" name="Rounded Rectangle 14"/>
          <p:cNvSpPr/>
          <p:nvPr/>
        </p:nvSpPr>
        <p:spPr>
          <a:xfrm>
            <a:off x="502920" y="5285232"/>
            <a:ext cx="1399032" cy="256032"/>
          </a:xfrm>
          <a:prstGeom prst="roundRect">
            <a:avLst>
              <a:gd name="adj" fmla="val 50000"/>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lnSpc>
                <a:spcPct val="100000"/>
              </a:lnSpc>
              <a:spcAft>
                <a:spcPts val="0"/>
              </a:spcAft>
            </a:pPr>
            <a:r>
              <a:rPr sz="850" b="1">
                <a:solidFill>
                  <a:srgbClr val="1D4ED8"/>
                </a:solidFill>
                <a:latin typeface="Arial"/>
              </a:rPr>
              <a:t>Morning briefing</a:t>
            </a:r>
          </a:p>
        </p:txBody>
      </p:sp>
      <p:sp>
        <p:nvSpPr>
          <p:cNvPr id="16" name="Rounded Rectangle 15"/>
          <p:cNvSpPr/>
          <p:nvPr/>
        </p:nvSpPr>
        <p:spPr>
          <a:xfrm>
            <a:off x="1993391" y="5285232"/>
            <a:ext cx="1399032" cy="256032"/>
          </a:xfrm>
          <a:prstGeom prst="roundRect">
            <a:avLst>
              <a:gd name="adj" fmla="val 50000"/>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lnSpc>
                <a:spcPct val="100000"/>
              </a:lnSpc>
              <a:spcAft>
                <a:spcPts val="0"/>
              </a:spcAft>
            </a:pPr>
            <a:r>
              <a:rPr sz="850" b="1">
                <a:solidFill>
                  <a:srgbClr val="1D4ED8"/>
                </a:solidFill>
                <a:latin typeface="Arial"/>
              </a:rPr>
              <a:t>Per-case assessment</a:t>
            </a:r>
          </a:p>
        </p:txBody>
      </p:sp>
      <p:sp>
        <p:nvSpPr>
          <p:cNvPr id="17" name="Rounded Rectangle 16"/>
          <p:cNvSpPr/>
          <p:nvPr/>
        </p:nvSpPr>
        <p:spPr>
          <a:xfrm>
            <a:off x="3483863" y="5285232"/>
            <a:ext cx="1399032" cy="256032"/>
          </a:xfrm>
          <a:prstGeom prst="roundRect">
            <a:avLst>
              <a:gd name="adj" fmla="val 50000"/>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lnSpc>
                <a:spcPct val="100000"/>
              </a:lnSpc>
              <a:spcAft>
                <a:spcPts val="0"/>
              </a:spcAft>
            </a:pPr>
            <a:r>
              <a:rPr sz="850" b="1">
                <a:solidFill>
                  <a:srgbClr val="1D4ED8"/>
                </a:solidFill>
                <a:latin typeface="Arial"/>
              </a:rPr>
              <a:t>Evidence + agent trace</a:t>
            </a:r>
          </a:p>
        </p:txBody>
      </p:sp>
      <p:sp>
        <p:nvSpPr>
          <p:cNvPr id="18" name="Rounded Rectangle 17"/>
          <p:cNvSpPr/>
          <p:nvPr/>
        </p:nvSpPr>
        <p:spPr>
          <a:xfrm>
            <a:off x="4974336" y="5285232"/>
            <a:ext cx="1399032" cy="256032"/>
          </a:xfrm>
          <a:prstGeom prst="roundRect">
            <a:avLst>
              <a:gd name="adj" fmla="val 50000"/>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lnSpc>
                <a:spcPct val="100000"/>
              </a:lnSpc>
              <a:spcAft>
                <a:spcPts val="0"/>
              </a:spcAft>
            </a:pPr>
            <a:r>
              <a:rPr sz="850" b="1">
                <a:solidFill>
                  <a:srgbClr val="1D4ED8"/>
                </a:solidFill>
                <a:latin typeface="Arial"/>
              </a:rPr>
              <a:t>Accept / reject / note</a:t>
            </a:r>
          </a:p>
        </p:txBody>
      </p:sp>
      <p:sp>
        <p:nvSpPr>
          <p:cNvPr id="19" name="Rounded Rectangle 18"/>
          <p:cNvSpPr/>
          <p:nvPr/>
        </p:nvSpPr>
        <p:spPr>
          <a:xfrm>
            <a:off x="6464807" y="5285232"/>
            <a:ext cx="1399032" cy="256032"/>
          </a:xfrm>
          <a:prstGeom prst="roundRect">
            <a:avLst>
              <a:gd name="adj" fmla="val 50000"/>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lnSpc>
                <a:spcPct val="100000"/>
              </a:lnSpc>
              <a:spcAft>
                <a:spcPts val="0"/>
              </a:spcAft>
            </a:pPr>
            <a:r>
              <a:rPr sz="850" b="1">
                <a:solidFill>
                  <a:srgbClr val="1D4ED8"/>
                </a:solidFill>
                <a:latin typeface="Arial"/>
              </a:rPr>
              <a:t>Bulk clear, guarded</a:t>
            </a:r>
          </a:p>
        </p:txBody>
      </p:sp>
      <p:sp>
        <p:nvSpPr>
          <p:cNvPr id="20" name="Rounded Rectangle 19"/>
          <p:cNvSpPr/>
          <p:nvPr/>
        </p:nvSpPr>
        <p:spPr>
          <a:xfrm>
            <a:off x="502920" y="5623560"/>
            <a:ext cx="1399032" cy="256032"/>
          </a:xfrm>
          <a:prstGeom prst="roundRect">
            <a:avLst>
              <a:gd name="adj" fmla="val 50000"/>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lnSpc>
                <a:spcPct val="100000"/>
              </a:lnSpc>
              <a:spcAft>
                <a:spcPts val="0"/>
              </a:spcAft>
            </a:pPr>
            <a:r>
              <a:rPr sz="850" b="1">
                <a:solidFill>
                  <a:srgbClr val="1D4ED8"/>
                </a:solidFill>
                <a:latin typeface="Arial"/>
              </a:rPr>
              <a:t>Supervisor escalation</a:t>
            </a:r>
          </a:p>
        </p:txBody>
      </p:sp>
      <p:sp>
        <p:nvSpPr>
          <p:cNvPr id="21" name="Rounded Rectangle 20"/>
          <p:cNvSpPr/>
          <p:nvPr/>
        </p:nvSpPr>
        <p:spPr>
          <a:xfrm>
            <a:off x="1993391" y="5623560"/>
            <a:ext cx="1399032" cy="256032"/>
          </a:xfrm>
          <a:prstGeom prst="roundRect">
            <a:avLst>
              <a:gd name="adj" fmla="val 50000"/>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lnSpc>
                <a:spcPct val="100000"/>
              </a:lnSpc>
              <a:spcAft>
                <a:spcPts val="0"/>
              </a:spcAft>
            </a:pPr>
            <a:r>
              <a:rPr sz="850" b="1">
                <a:solidFill>
                  <a:srgbClr val="1D4ED8"/>
                </a:solidFill>
                <a:latin typeface="Arial"/>
              </a:rPr>
              <a:t>Rules + backtest</a:t>
            </a:r>
          </a:p>
        </p:txBody>
      </p:sp>
      <p:sp>
        <p:nvSpPr>
          <p:cNvPr id="22" name="Rounded Rectangle 21"/>
          <p:cNvSpPr/>
          <p:nvPr/>
        </p:nvSpPr>
        <p:spPr>
          <a:xfrm>
            <a:off x="3483863" y="5623560"/>
            <a:ext cx="1399032" cy="256032"/>
          </a:xfrm>
          <a:prstGeom prst="roundRect">
            <a:avLst>
              <a:gd name="adj" fmla="val 50000"/>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lnSpc>
                <a:spcPct val="100000"/>
              </a:lnSpc>
              <a:spcAft>
                <a:spcPts val="0"/>
              </a:spcAft>
            </a:pPr>
            <a:r>
              <a:rPr sz="850" b="1">
                <a:solidFill>
                  <a:srgbClr val="1D4ED8"/>
                </a:solidFill>
                <a:latin typeface="Arial"/>
              </a:rPr>
              <a:t>Blocklist</a:t>
            </a:r>
          </a:p>
        </p:txBody>
      </p:sp>
      <p:sp>
        <p:nvSpPr>
          <p:cNvPr id="23" name="Rounded Rectangle 22"/>
          <p:cNvSpPr/>
          <p:nvPr/>
        </p:nvSpPr>
        <p:spPr>
          <a:xfrm>
            <a:off x="4974336" y="5623560"/>
            <a:ext cx="1399032" cy="256032"/>
          </a:xfrm>
          <a:prstGeom prst="roundRect">
            <a:avLst>
              <a:gd name="adj" fmla="val 50000"/>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lnSpc>
                <a:spcPct val="100000"/>
              </a:lnSpc>
              <a:spcAft>
                <a:spcPts val="0"/>
              </a:spcAft>
            </a:pPr>
            <a:r>
              <a:rPr sz="850" b="1">
                <a:solidFill>
                  <a:srgbClr val="1D4ED8"/>
                </a:solidFill>
                <a:latin typeface="Arial"/>
              </a:rPr>
              <a:t>Outcome feedback</a:t>
            </a:r>
          </a:p>
        </p:txBody>
      </p:sp>
      <p:sp>
        <p:nvSpPr>
          <p:cNvPr id="24" name="Rounded Rectangle 23"/>
          <p:cNvSpPr/>
          <p:nvPr/>
        </p:nvSpPr>
        <p:spPr>
          <a:xfrm>
            <a:off x="6464807" y="5623560"/>
            <a:ext cx="1399032" cy="256032"/>
          </a:xfrm>
          <a:prstGeom prst="roundRect">
            <a:avLst>
              <a:gd name="adj" fmla="val 50000"/>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lnSpc>
                <a:spcPct val="100000"/>
              </a:lnSpc>
              <a:spcAft>
                <a:spcPts val="0"/>
              </a:spcAft>
            </a:pPr>
            <a:r>
              <a:rPr sz="850" b="1">
                <a:solidFill>
                  <a:srgbClr val="1D4ED8"/>
                </a:solidFill>
                <a:latin typeface="Arial"/>
              </a:rPr>
              <a:t>Audit log</a:t>
            </a:r>
          </a:p>
        </p:txBody>
      </p:sp>
      <p:sp>
        <p:nvSpPr>
          <p:cNvPr id="25" name="TextBox 24"/>
          <p:cNvSpPr txBox="1"/>
          <p:nvPr/>
        </p:nvSpPr>
        <p:spPr>
          <a:xfrm>
            <a:off x="8092440" y="5029200"/>
            <a:ext cx="3593592" cy="201168"/>
          </a:xfrm>
          <a:prstGeom prst="rect">
            <a:avLst/>
          </a:prstGeom>
          <a:noFill/>
        </p:spPr>
        <p:txBody>
          <a:bodyPr wrap="square" anchor="t" lIns="0" tIns="0" rIns="0" bIns="0">
            <a:spAutoFit/>
          </a:bodyPr>
          <a:lstStyle/>
          <a:p>
            <a:pPr algn="l">
              <a:lnSpc>
                <a:spcPct val="100000"/>
              </a:lnSpc>
              <a:spcAft>
                <a:spcPts val="0"/>
              </a:spcAft>
            </a:pPr>
            <a:r>
              <a:rPr sz="900" b="1">
                <a:solidFill>
                  <a:srgbClr val="64748B"/>
                </a:solidFill>
                <a:latin typeface="Arial"/>
              </a:rPr>
              <a:t>LEFT OUT ON PURPOSE</a:t>
            </a:r>
          </a:p>
        </p:txBody>
      </p:sp>
      <p:sp>
        <p:nvSpPr>
          <p:cNvPr id="26" name="Rounded Rectangle 25"/>
          <p:cNvSpPr/>
          <p:nvPr/>
        </p:nvSpPr>
        <p:spPr>
          <a:xfrm>
            <a:off x="8092440" y="5285232"/>
            <a:ext cx="3593592" cy="310896"/>
          </a:xfrm>
          <a:prstGeom prst="roundRect">
            <a:avLst>
              <a:gd name="adj" fmla="val 12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lstStyle/>
          <a:p>
            <a:pPr algn="l">
              <a:lnSpc>
                <a:spcPct val="100000"/>
              </a:lnSpc>
              <a:spcAft>
                <a:spcPts val="0"/>
              </a:spcAft>
            </a:pPr>
            <a:r>
              <a:rPr sz="900" b="1">
                <a:solidFill>
                  <a:srgbClr val="64748B"/>
                </a:solidFill>
                <a:latin typeface="Arial"/>
              </a:rPr>
              <a:t>Auth, multi-tenancy, deploy  </a:t>
            </a:r>
            <a:r>
              <a:rPr sz="900" b="0">
                <a:solidFill>
                  <a:srgbClr val="94A3B8"/>
                </a:solidFill>
                <a:latin typeface="Arial"/>
              </a:rPr>
              <a:t>out of scope in the brief</a:t>
            </a:r>
          </a:p>
        </p:txBody>
      </p:sp>
      <p:sp>
        <p:nvSpPr>
          <p:cNvPr id="27" name="Rounded Rectangle 26"/>
          <p:cNvSpPr/>
          <p:nvPr/>
        </p:nvSpPr>
        <p:spPr>
          <a:xfrm>
            <a:off x="8092440" y="5641848"/>
            <a:ext cx="3593592" cy="310896"/>
          </a:xfrm>
          <a:prstGeom prst="roundRect">
            <a:avLst>
              <a:gd name="adj" fmla="val 12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lstStyle/>
          <a:p>
            <a:pPr algn="l">
              <a:lnSpc>
                <a:spcPct val="100000"/>
              </a:lnSpc>
              <a:spcAft>
                <a:spcPts val="0"/>
              </a:spcAft>
            </a:pPr>
            <a:r>
              <a:rPr sz="900" b="1">
                <a:solidFill>
                  <a:srgbClr val="64748B"/>
                </a:solidFill>
                <a:latin typeface="Arial"/>
              </a:rPr>
              <a:t>A trained ML model  </a:t>
            </a:r>
            <a:r>
              <a:rPr sz="900" b="0">
                <a:solidFill>
                  <a:srgbClr val="94A3B8"/>
                </a:solidFill>
                <a:latin typeface="Arial"/>
              </a:rPr>
              <a:t>no labels — accuracy would be invented</a:t>
            </a:r>
          </a:p>
        </p:txBody>
      </p:sp>
      <p:sp>
        <p:nvSpPr>
          <p:cNvPr id="28" name="Rounded Rectangle 27"/>
          <p:cNvSpPr/>
          <p:nvPr/>
        </p:nvSpPr>
        <p:spPr>
          <a:xfrm>
            <a:off x="8092440" y="5998464"/>
            <a:ext cx="3593592" cy="310896"/>
          </a:xfrm>
          <a:prstGeom prst="roundRect">
            <a:avLst>
              <a:gd name="adj" fmla="val 12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lstStyle/>
          <a:p>
            <a:pPr algn="l">
              <a:lnSpc>
                <a:spcPct val="100000"/>
              </a:lnSpc>
              <a:spcAft>
                <a:spcPts val="0"/>
              </a:spcAft>
            </a:pPr>
            <a:r>
              <a:rPr sz="900" b="1">
                <a:solidFill>
                  <a:srgbClr val="64748B"/>
                </a:solidFill>
                <a:latin typeface="Arial"/>
              </a:rPr>
              <a:t>Provider / member graph  </a:t>
            </a:r>
            <a:r>
              <a:rPr sz="900" b="0">
                <a:solidFill>
                  <a:srgbClr val="94A3B8"/>
                </a:solidFill>
                <a:latin typeface="Arial"/>
              </a:rPr>
              <a:t>no IDs in the CSV; code is ready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185855" cy="457200"/>
          </a:xfrm>
          <a:prstGeom prst="rect">
            <a:avLst/>
          </a:prstGeom>
          <a:noFill/>
        </p:spPr>
        <p:txBody>
          <a:bodyPr wrap="square" anchor="t" lIns="0" tIns="0" rIns="0" bIns="0">
            <a:spAutoFit/>
          </a:bodyPr>
          <a:lstStyle/>
          <a:p>
            <a:pPr algn="l">
              <a:lnSpc>
                <a:spcPct val="100000"/>
              </a:lnSpc>
              <a:spcAft>
                <a:spcPts val="0"/>
              </a:spcAft>
            </a:pPr>
            <a:r>
              <a:rPr sz="2600" b="1">
                <a:solidFill>
                  <a:srgbClr val="0F172A"/>
                </a:solidFill>
                <a:latin typeface="Arial"/>
              </a:rPr>
              <a:t>Rules set the depth; agents reason only where it pays</a:t>
            </a:r>
          </a:p>
        </p:txBody>
      </p:sp>
      <p:sp>
        <p:nvSpPr>
          <p:cNvPr id="3" name="TextBox 2"/>
          <p:cNvSpPr txBox="1"/>
          <p:nvPr/>
        </p:nvSpPr>
        <p:spPr>
          <a:xfrm>
            <a:off x="502920" y="841248"/>
            <a:ext cx="11185855" cy="256032"/>
          </a:xfrm>
          <a:prstGeom prst="rect">
            <a:avLst/>
          </a:prstGeom>
          <a:noFill/>
        </p:spPr>
        <p:txBody>
          <a:bodyPr wrap="square" anchor="t" lIns="0" tIns="0" rIns="0" bIns="0">
            <a:spAutoFit/>
          </a:bodyPr>
          <a:lstStyle/>
          <a:p>
            <a:pPr algn="l">
              <a:lnSpc>
                <a:spcPct val="100000"/>
              </a:lnSpc>
              <a:spcAft>
                <a:spcPts val="0"/>
              </a:spcAft>
            </a:pPr>
            <a:r>
              <a:rPr sz="1150" b="0">
                <a:solidFill>
                  <a:srgbClr val="64748B"/>
                </a:solidFill>
                <a:latin typeface="Arial"/>
              </a:rPr>
              <a:t>How the system reasons about a case, stays grounded, and scales</a:t>
            </a:r>
          </a:p>
        </p:txBody>
      </p:sp>
      <p:sp>
        <p:nvSpPr>
          <p:cNvPr id="4" name="Rectangle 3"/>
          <p:cNvSpPr/>
          <p:nvPr/>
        </p:nvSpPr>
        <p:spPr>
          <a:xfrm>
            <a:off x="502920" y="1152144"/>
            <a:ext cx="11185855"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10528"/>
            <a:ext cx="7315200" cy="219456"/>
          </a:xfrm>
          <a:prstGeom prst="rect">
            <a:avLst/>
          </a:prstGeom>
          <a:noFill/>
        </p:spPr>
        <p:txBody>
          <a:bodyPr wrap="square" anchor="t" lIns="0" tIns="0" rIns="0" bIns="0">
            <a:spAutoFit/>
          </a:bodyPr>
          <a:lstStyle/>
          <a:p>
            <a:pPr algn="l">
              <a:lnSpc>
                <a:spcPct val="100000"/>
              </a:lnSpc>
              <a:spcAft>
                <a:spcPts val="0"/>
              </a:spcAft>
            </a:pPr>
            <a:r>
              <a:rPr sz="850" b="0">
                <a:solidFill>
                  <a:srgbClr val="94A3B8"/>
                </a:solidFill>
                <a:latin typeface="Arial"/>
              </a:rPr>
              <a:t>Junior AI Investigator  ·  AI-first case review for fraud investigators</a:t>
            </a:r>
          </a:p>
        </p:txBody>
      </p:sp>
      <p:sp>
        <p:nvSpPr>
          <p:cNvPr id="6" name="TextBox 5"/>
          <p:cNvSpPr txBox="1"/>
          <p:nvPr/>
        </p:nvSpPr>
        <p:spPr>
          <a:xfrm>
            <a:off x="10774375" y="6510528"/>
            <a:ext cx="914400" cy="219456"/>
          </a:xfrm>
          <a:prstGeom prst="rect">
            <a:avLst/>
          </a:prstGeom>
          <a:noFill/>
        </p:spPr>
        <p:txBody>
          <a:bodyPr wrap="square" anchor="t" lIns="0" tIns="0" rIns="0" bIns="0">
            <a:spAutoFit/>
          </a:bodyPr>
          <a:lstStyle/>
          <a:p>
            <a:pPr algn="r">
              <a:lnSpc>
                <a:spcPct val="100000"/>
              </a:lnSpc>
              <a:spcAft>
                <a:spcPts val="0"/>
              </a:spcAft>
            </a:pPr>
            <a:r>
              <a:rPr sz="850" b="0">
                <a:solidFill>
                  <a:srgbClr val="94A3B8"/>
                </a:solidFill>
                <a:latin typeface="Arial"/>
              </a:rPr>
              <a:t>2 / 4</a:t>
            </a:r>
          </a:p>
        </p:txBody>
      </p:sp>
      <p:pic>
        <p:nvPicPr>
          <p:cNvPr id="7" name="Picture 6" descr="diagram_flow.png"/>
          <p:cNvPicPr>
            <a:picLocks noChangeAspect="1"/>
          </p:cNvPicPr>
          <p:nvPr/>
        </p:nvPicPr>
        <p:blipFill>
          <a:blip r:embed="rId3"/>
          <a:stretch>
            <a:fillRect/>
          </a:stretch>
        </p:blipFill>
        <p:spPr>
          <a:xfrm>
            <a:off x="502920" y="1335024"/>
            <a:ext cx="4369197" cy="4956048"/>
          </a:xfrm>
          <a:prstGeom prst="rect">
            <a:avLst/>
          </a:prstGeom>
          <a:ln w="9525">
            <a:solidFill>
              <a:srgbClr val="E2E8F0"/>
            </a:solidFill>
          </a:ln>
        </p:spPr>
      </p:pic>
      <p:sp>
        <p:nvSpPr>
          <p:cNvPr id="8" name="Rounded Rectangle 7"/>
          <p:cNvSpPr/>
          <p:nvPr/>
        </p:nvSpPr>
        <p:spPr>
          <a:xfrm>
            <a:off x="5256165" y="1335024"/>
            <a:ext cx="6432610" cy="1389888"/>
          </a:xfrm>
          <a:prstGeom prst="roundRect">
            <a:avLst>
              <a:gd name="adj" fmla="val 4500"/>
            </a:avLst>
          </a:prstGeom>
          <a:solidFill>
            <a:srgbClr val="FFF3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tIns="109728" rIns="128016" bIns="91440"/>
          <a:lstStyle/>
          <a:p>
            <a:pPr algn="l">
              <a:lnSpc>
                <a:spcPct val="100000"/>
              </a:lnSpc>
              <a:spcAft>
                <a:spcPts val="600"/>
              </a:spcAft>
            </a:pPr>
            <a:r>
              <a:rPr sz="1000" b="1">
                <a:solidFill>
                  <a:srgbClr val="C2410C"/>
                </a:solidFill>
                <a:latin typeface="Arial"/>
              </a:rPr>
              <a:t>How it reasons</a:t>
            </a:r>
          </a:p>
          <a:p>
            <a:pPr algn="l">
              <a:lnSpc>
                <a:spcPct val="112000"/>
              </a:lnSpc>
              <a:spcAft>
                <a:spcPts val="600"/>
              </a:spcAft>
            </a:pPr>
            <a:r>
              <a:rPr sz="1100" b="1">
                <a:solidFill>
                  <a:srgbClr val="0F172A"/>
                </a:solidFill>
                <a:latin typeface="Arial"/>
              </a:rPr>
              <a:t>Not a single call, and not agents everywhere. </a:t>
            </a:r>
            <a:r>
              <a:rPr sz="1100" b="0">
                <a:solidFill>
                  <a:srgbClr val="0F172A"/>
                </a:solidFill>
                <a:latin typeface="Arial"/>
              </a:rPr>
              <a:t>Deterministic rules score and route every case; depth is bought only where the evidence is genuinely unclear.</a:t>
            </a:r>
          </a:p>
          <a:p>
            <a:pPr algn="l">
              <a:lnSpc>
                <a:spcPct val="100000"/>
              </a:lnSpc>
              <a:spcAft>
                <a:spcPts val="0"/>
              </a:spcAft>
            </a:pPr>
            <a:r>
              <a:rPr sz="1000" b="1">
                <a:solidFill>
                  <a:srgbClr val="047857"/>
                </a:solidFill>
                <a:latin typeface="Arial"/>
              </a:rPr>
              <a:t>58% </a:t>
            </a:r>
            <a:r>
              <a:rPr sz="1000" b="0">
                <a:solidFill>
                  <a:srgbClr val="64748B"/>
                </a:solidFill>
                <a:latin typeface="Arial"/>
              </a:rPr>
              <a:t>one batched call  ·  </a:t>
            </a:r>
            <a:r>
              <a:rPr sz="1000" b="1">
                <a:solidFill>
                  <a:srgbClr val="B91C1C"/>
                </a:solidFill>
                <a:latin typeface="Arial"/>
              </a:rPr>
              <a:t>16% </a:t>
            </a:r>
            <a:r>
              <a:rPr sz="1000" b="0">
                <a:solidFill>
                  <a:srgbClr val="64748B"/>
                </a:solidFill>
                <a:latin typeface="Arial"/>
              </a:rPr>
              <a:t>verifier only  ·  </a:t>
            </a:r>
            <a:r>
              <a:rPr sz="1000" b="1">
                <a:solidFill>
                  <a:srgbClr val="C2410C"/>
                </a:solidFill>
                <a:latin typeface="Arial"/>
              </a:rPr>
              <a:t>26% </a:t>
            </a:r>
            <a:r>
              <a:rPr sz="1000" b="0">
                <a:solidFill>
                  <a:srgbClr val="64748B"/>
                </a:solidFill>
                <a:latin typeface="Arial"/>
              </a:rPr>
              <a:t>specialists → challenger → verifier → panel if contested</a:t>
            </a:r>
          </a:p>
        </p:txBody>
      </p:sp>
      <p:sp>
        <p:nvSpPr>
          <p:cNvPr id="9" name="Rounded Rectangle 8"/>
          <p:cNvSpPr/>
          <p:nvPr/>
        </p:nvSpPr>
        <p:spPr>
          <a:xfrm>
            <a:off x="5256165" y="2798064"/>
            <a:ext cx="6432610" cy="950976"/>
          </a:xfrm>
          <a:prstGeom prst="roundRect">
            <a:avLst>
              <a:gd name="adj" fmla="val 4500"/>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tIns="109728" rIns="128016" bIns="91440"/>
          <a:lstStyle/>
          <a:p>
            <a:pPr algn="l">
              <a:lnSpc>
                <a:spcPct val="100000"/>
              </a:lnSpc>
              <a:spcAft>
                <a:spcPts val="600"/>
              </a:spcAft>
            </a:pPr>
            <a:r>
              <a:rPr sz="1000" b="1">
                <a:solidFill>
                  <a:srgbClr val="1D4ED8"/>
                </a:solidFill>
                <a:latin typeface="Arial"/>
              </a:rPr>
              <a:t>Tool use, not retrieval</a:t>
            </a:r>
          </a:p>
          <a:p>
            <a:pPr algn="l">
              <a:lnSpc>
                <a:spcPct val="112000"/>
              </a:lnSpc>
              <a:spcAft>
                <a:spcPts val="0"/>
              </a:spcAft>
            </a:pPr>
            <a:r>
              <a:rPr sz="1100" b="1">
                <a:solidFill>
                  <a:srgbClr val="0F172A"/>
                </a:solidFill>
                <a:latin typeface="Arial"/>
              </a:rPr>
              <a:t>9 read-only tools query the live record</a:t>
            </a:r>
            <a:r>
              <a:rPr sz="1100" b="0">
                <a:solidFill>
                  <a:srgbClr val="0F172A"/>
                </a:solidFill>
                <a:latin typeface="Arial"/>
              </a:rPr>
              <a:t> — peers, similar cases, linked claims, notes, rules. No vector store, no RAG: 50 structured rows answer exactly in SQL.</a:t>
            </a:r>
          </a:p>
        </p:txBody>
      </p:sp>
      <p:sp>
        <p:nvSpPr>
          <p:cNvPr id="10" name="Rounded Rectangle 9"/>
          <p:cNvSpPr/>
          <p:nvPr/>
        </p:nvSpPr>
        <p:spPr>
          <a:xfrm>
            <a:off x="5256165" y="3822191"/>
            <a:ext cx="6432610" cy="1627632"/>
          </a:xfrm>
          <a:prstGeom prst="roundRect">
            <a:avLst>
              <a:gd name="adj" fmla="val 45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tIns="109728" rIns="128016" bIns="91440"/>
          <a:lstStyle/>
          <a:p>
            <a:pPr algn="l">
              <a:lnSpc>
                <a:spcPct val="100000"/>
              </a:lnSpc>
              <a:spcAft>
                <a:spcPts val="600"/>
              </a:spcAft>
            </a:pPr>
            <a:r>
              <a:rPr sz="1000" b="1">
                <a:solidFill>
                  <a:srgbClr val="FFFFFF"/>
                </a:solidFill>
                <a:latin typeface="Arial"/>
              </a:rPr>
              <a:t>Grounded by code, not by prompt</a:t>
            </a:r>
          </a:p>
          <a:p>
            <a:pPr algn="l" marL="146304" indent="-146304">
              <a:lnSpc>
                <a:spcPct val="105000"/>
              </a:lnSpc>
              <a:spcAft>
                <a:spcPts val="400"/>
              </a:spcAft>
              <a:buChar char="–"/>
            </a:pPr>
            <a:r>
              <a:rPr sz="1050" b="0">
                <a:solidFill>
                  <a:srgbClr val="E2E8F0"/>
                </a:solidFill>
                <a:latin typeface="Arial"/>
              </a:rPr>
              <a:t>Every cited field = value re-verified against the record</a:t>
            </a:r>
          </a:p>
          <a:p>
            <a:pPr algn="l" marL="146304" indent="-146304">
              <a:lnSpc>
                <a:spcPct val="105000"/>
              </a:lnSpc>
              <a:spcAft>
                <a:spcPts val="400"/>
              </a:spcAft>
              <a:buChar char="–"/>
            </a:pPr>
            <a:r>
              <a:rPr sz="1050" b="0">
                <a:solidFill>
                  <a:srgbClr val="E2E8F0"/>
                </a:solidFill>
                <a:latin typeface="Arial"/>
              </a:rPr>
              <a:t>Score moves ≤ ±20; the risk level is derived, not chosen</a:t>
            </a:r>
          </a:p>
          <a:p>
            <a:pPr algn="l" marL="146304" indent="-146304">
              <a:lnSpc>
                <a:spcPct val="105000"/>
              </a:lnSpc>
              <a:spcAft>
                <a:spcPts val="400"/>
              </a:spcAft>
              <a:buChar char="–"/>
            </a:pPr>
            <a:r>
              <a:rPr sz="1050" b="0">
                <a:solidFill>
                  <a:srgbClr val="E2E8F0"/>
                </a:solidFill>
                <a:latin typeface="Arial"/>
              </a:rPr>
              <a:t>Cannot clear a HIGH/CRITICAL case or a confirmed-fraud lookalike</a:t>
            </a:r>
          </a:p>
          <a:p>
            <a:pPr algn="l" marL="146304" indent="-146304">
              <a:lnSpc>
                <a:spcPct val="105000"/>
              </a:lnSpc>
              <a:spcAft>
                <a:spcPts val="600"/>
              </a:spcAft>
              <a:buChar char="–"/>
            </a:pPr>
            <a:r>
              <a:rPr sz="1050" b="0">
                <a:solidFill>
                  <a:srgbClr val="E2E8F0"/>
                </a:solidFill>
                <a:latin typeface="Arial"/>
              </a:rPr>
              <a:t>On failure it says “LLM unavailable” — never invented text</a:t>
            </a:r>
          </a:p>
          <a:p>
            <a:pPr algn="l">
              <a:lnSpc>
                <a:spcPct val="100000"/>
              </a:lnSpc>
              <a:spcAft>
                <a:spcPts val="0"/>
              </a:spcAft>
            </a:pPr>
            <a:r>
              <a:rPr sz="1000" b="1">
                <a:solidFill>
                  <a:srgbClr val="6EE7B7"/>
                </a:solidFill>
                <a:latin typeface="Arial"/>
              </a:rPr>
              <a:t>10/10</a:t>
            </a:r>
            <a:r>
              <a:rPr sz="1000" b="0">
                <a:solidFill>
                  <a:srgbClr val="94A3B8"/>
                </a:solidFill>
                <a:latin typeface="Arial"/>
              </a:rPr>
              <a:t> invariants   </a:t>
            </a:r>
            <a:r>
              <a:rPr sz="1000" b="1">
                <a:solidFill>
                  <a:srgbClr val="6EE7B7"/>
                </a:solidFill>
                <a:latin typeface="Arial"/>
              </a:rPr>
              <a:t>5/5</a:t>
            </a:r>
            <a:r>
              <a:rPr sz="1000" b="0">
                <a:solidFill>
                  <a:srgbClr val="94A3B8"/>
                </a:solidFill>
                <a:latin typeface="Arial"/>
              </a:rPr>
              <a:t> adversarial tests   </a:t>
            </a:r>
            <a:r>
              <a:rPr sz="1000" b="1">
                <a:solidFill>
                  <a:srgbClr val="6EE7B7"/>
                </a:solidFill>
                <a:latin typeface="Arial"/>
              </a:rPr>
              <a:t>277/277</a:t>
            </a:r>
            <a:r>
              <a:rPr sz="1000" b="0">
                <a:solidFill>
                  <a:srgbClr val="94A3B8"/>
                </a:solidFill>
                <a:latin typeface="Arial"/>
              </a:rPr>
              <a:t> indicators re-verified</a:t>
            </a:r>
          </a:p>
        </p:txBody>
      </p:sp>
      <p:sp>
        <p:nvSpPr>
          <p:cNvPr id="11" name="Rounded Rectangle 10"/>
          <p:cNvSpPr/>
          <p:nvPr/>
        </p:nvSpPr>
        <p:spPr>
          <a:xfrm>
            <a:off x="5256165" y="5559552"/>
            <a:ext cx="6432610" cy="82296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109728" rIns="128016" bIns="91440"/>
          <a:lstStyle/>
          <a:p>
            <a:pPr algn="l">
              <a:lnSpc>
                <a:spcPct val="100000"/>
              </a:lnSpc>
              <a:spcAft>
                <a:spcPts val="500"/>
              </a:spcAft>
            </a:pPr>
            <a:r>
              <a:rPr sz="1000" b="1">
                <a:solidFill>
                  <a:srgbClr val="64748B"/>
                </a:solidFill>
                <a:latin typeface="Arial"/>
              </a:rPr>
              <a:t>Beyond 50 cases</a:t>
            </a:r>
          </a:p>
          <a:p>
            <a:pPr algn="l">
              <a:lnSpc>
                <a:spcPct val="112000"/>
              </a:lnSpc>
              <a:spcAft>
                <a:spcPts val="0"/>
              </a:spcAft>
            </a:pPr>
            <a:r>
              <a:rPr sz="1000" b="0">
                <a:solidFill>
                  <a:srgbClr val="0F172A"/>
                </a:solidFill>
                <a:latin typeface="Arial"/>
              </a:rPr>
              <a:t>Router is free and O(1) — spend lands on the hard tail. </a:t>
            </a:r>
            <a:r>
              <a:rPr sz="1000" b="1">
                <a:solidFill>
                  <a:srgbClr val="0F172A"/>
                </a:solidFill>
                <a:latin typeface="Arial"/>
              </a:rPr>
              <a:t>100% band agreement with a single judge at 27% fewer tokens. </a:t>
            </a:r>
            <a:r>
              <a:rPr sz="1000" b="0">
                <a:solidFill>
                  <a:srgbClr val="64748B"/>
                </a:solidFill>
                <a:latin typeface="Arial"/>
              </a:rPr>
              <a:t>Limits: SQLite, in-process workers, O(n) similarity.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185855" cy="457200"/>
          </a:xfrm>
          <a:prstGeom prst="rect">
            <a:avLst/>
          </a:prstGeom>
          <a:noFill/>
        </p:spPr>
        <p:txBody>
          <a:bodyPr wrap="square" anchor="t" lIns="0" tIns="0" rIns="0" bIns="0">
            <a:spAutoFit/>
          </a:bodyPr>
          <a:lstStyle/>
          <a:p>
            <a:pPr algn="l">
              <a:lnSpc>
                <a:spcPct val="100000"/>
              </a:lnSpc>
              <a:spcAft>
                <a:spcPts val="0"/>
              </a:spcAft>
            </a:pPr>
            <a:r>
              <a:rPr sz="2600" b="1">
                <a:solidFill>
                  <a:srgbClr val="0F172A"/>
                </a:solidFill>
                <a:latin typeface="Arial"/>
              </a:rPr>
              <a:t>What I cut, what I would do next, and the risks I can name</a:t>
            </a:r>
          </a:p>
        </p:txBody>
      </p:sp>
      <p:sp>
        <p:nvSpPr>
          <p:cNvPr id="3" name="TextBox 2"/>
          <p:cNvSpPr txBox="1"/>
          <p:nvPr/>
        </p:nvSpPr>
        <p:spPr>
          <a:xfrm>
            <a:off x="502920" y="841248"/>
            <a:ext cx="11185855" cy="256032"/>
          </a:xfrm>
          <a:prstGeom prst="rect">
            <a:avLst/>
          </a:prstGeom>
          <a:noFill/>
        </p:spPr>
        <p:txBody>
          <a:bodyPr wrap="square" anchor="t" lIns="0" tIns="0" rIns="0" bIns="0">
            <a:spAutoFit/>
          </a:bodyPr>
          <a:lstStyle/>
          <a:p>
            <a:pPr algn="l">
              <a:lnSpc>
                <a:spcPct val="100000"/>
              </a:lnSpc>
              <a:spcAft>
                <a:spcPts val="0"/>
              </a:spcAft>
            </a:pPr>
            <a:r>
              <a:rPr sz="1150" b="0">
                <a:solidFill>
                  <a:srgbClr val="64748B"/>
                </a:solidFill>
                <a:latin typeface="Arial"/>
              </a:rPr>
              <a:t>Trade-offs · deliberate omissions · where this could go wrong</a:t>
            </a:r>
          </a:p>
        </p:txBody>
      </p:sp>
      <p:sp>
        <p:nvSpPr>
          <p:cNvPr id="4" name="Rectangle 3"/>
          <p:cNvSpPr/>
          <p:nvPr/>
        </p:nvSpPr>
        <p:spPr>
          <a:xfrm>
            <a:off x="502920" y="1152144"/>
            <a:ext cx="11185855"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10528"/>
            <a:ext cx="7315200" cy="219456"/>
          </a:xfrm>
          <a:prstGeom prst="rect">
            <a:avLst/>
          </a:prstGeom>
          <a:noFill/>
        </p:spPr>
        <p:txBody>
          <a:bodyPr wrap="square" anchor="t" lIns="0" tIns="0" rIns="0" bIns="0">
            <a:spAutoFit/>
          </a:bodyPr>
          <a:lstStyle/>
          <a:p>
            <a:pPr algn="l">
              <a:lnSpc>
                <a:spcPct val="100000"/>
              </a:lnSpc>
              <a:spcAft>
                <a:spcPts val="0"/>
              </a:spcAft>
            </a:pPr>
            <a:r>
              <a:rPr sz="850" b="0">
                <a:solidFill>
                  <a:srgbClr val="94A3B8"/>
                </a:solidFill>
                <a:latin typeface="Arial"/>
              </a:rPr>
              <a:t>Junior AI Investigator  ·  AI-first case review for fraud investigators</a:t>
            </a:r>
          </a:p>
        </p:txBody>
      </p:sp>
      <p:sp>
        <p:nvSpPr>
          <p:cNvPr id="6" name="TextBox 5"/>
          <p:cNvSpPr txBox="1"/>
          <p:nvPr/>
        </p:nvSpPr>
        <p:spPr>
          <a:xfrm>
            <a:off x="10774375" y="6510528"/>
            <a:ext cx="914400" cy="219456"/>
          </a:xfrm>
          <a:prstGeom prst="rect">
            <a:avLst/>
          </a:prstGeom>
          <a:noFill/>
        </p:spPr>
        <p:txBody>
          <a:bodyPr wrap="square" anchor="t" lIns="0" tIns="0" rIns="0" bIns="0">
            <a:spAutoFit/>
          </a:bodyPr>
          <a:lstStyle/>
          <a:p>
            <a:pPr algn="r">
              <a:lnSpc>
                <a:spcPct val="100000"/>
              </a:lnSpc>
              <a:spcAft>
                <a:spcPts val="0"/>
              </a:spcAft>
            </a:pPr>
            <a:r>
              <a:rPr sz="850" b="0">
                <a:solidFill>
                  <a:srgbClr val="94A3B8"/>
                </a:solidFill>
                <a:latin typeface="Arial"/>
              </a:rPr>
              <a:t>3 / 4</a:t>
            </a:r>
          </a:p>
        </p:txBody>
      </p:sp>
      <p:sp>
        <p:nvSpPr>
          <p:cNvPr id="7" name="TextBox 6"/>
          <p:cNvSpPr txBox="1"/>
          <p:nvPr/>
        </p:nvSpPr>
        <p:spPr>
          <a:xfrm>
            <a:off x="502920" y="1335024"/>
            <a:ext cx="5486400" cy="201168"/>
          </a:xfrm>
          <a:prstGeom prst="rect">
            <a:avLst/>
          </a:prstGeom>
          <a:noFill/>
        </p:spPr>
        <p:txBody>
          <a:bodyPr wrap="square" anchor="t" lIns="0" tIns="0" rIns="0" bIns="0">
            <a:spAutoFit/>
          </a:bodyPr>
          <a:lstStyle/>
          <a:p>
            <a:pPr algn="l">
              <a:lnSpc>
                <a:spcPct val="100000"/>
              </a:lnSpc>
              <a:spcAft>
                <a:spcPts val="0"/>
              </a:spcAft>
            </a:pPr>
            <a:r>
              <a:rPr sz="900" b="1">
                <a:solidFill>
                  <a:srgbClr val="B91C1C"/>
                </a:solidFill>
                <a:latin typeface="Arial"/>
              </a:rPr>
              <a:t>RISKS I CAN NAME</a:t>
            </a:r>
          </a:p>
        </p:txBody>
      </p:sp>
      <p:sp>
        <p:nvSpPr>
          <p:cNvPr id="8" name="Rounded Rectangle 7"/>
          <p:cNvSpPr/>
          <p:nvPr/>
        </p:nvSpPr>
        <p:spPr>
          <a:xfrm>
            <a:off x="502920" y="1591056"/>
            <a:ext cx="5532120" cy="585216"/>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tIns="0" rIns="128016" bIns="0"/>
          <a:lstStyle/>
          <a:p>
            <a:pPr algn="l">
              <a:lnSpc>
                <a:spcPct val="112000"/>
              </a:lnSpc>
              <a:spcAft>
                <a:spcPts val="0"/>
              </a:spcAft>
            </a:pPr>
            <a:r>
              <a:rPr sz="1050" b="1">
                <a:solidFill>
                  <a:srgbClr val="B91C1C"/>
                </a:solidFill>
                <a:latin typeface="Arial"/>
              </a:rPr>
              <a:t>Accuracy   </a:t>
            </a:r>
            <a:r>
              <a:rPr sz="1050" b="0">
                <a:solidFill>
                  <a:srgbClr val="0F172A"/>
                </a:solidFill>
                <a:latin typeface="Arial"/>
              </a:rPr>
              <a:t>No labels in the data — so no accuracy claim. Backtests measure agreement, not fraud.</a:t>
            </a:r>
          </a:p>
        </p:txBody>
      </p:sp>
      <p:sp>
        <p:nvSpPr>
          <p:cNvPr id="9" name="Rounded Rectangle 8"/>
          <p:cNvSpPr/>
          <p:nvPr/>
        </p:nvSpPr>
        <p:spPr>
          <a:xfrm>
            <a:off x="502920" y="2249424"/>
            <a:ext cx="5532120" cy="585216"/>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tIns="0" rIns="128016" bIns="0"/>
          <a:lstStyle/>
          <a:p>
            <a:pPr algn="l">
              <a:lnSpc>
                <a:spcPct val="112000"/>
              </a:lnSpc>
              <a:spcAft>
                <a:spcPts val="0"/>
              </a:spcAft>
            </a:pPr>
            <a:r>
              <a:rPr sz="1050" b="1">
                <a:solidFill>
                  <a:srgbClr val="B91C1C"/>
                </a:solidFill>
                <a:latin typeface="Arial"/>
              </a:rPr>
              <a:t>False negatives   </a:t>
            </a:r>
            <a:r>
              <a:rPr sz="1050" b="0">
                <a:solidFill>
                  <a:srgbClr val="0F172A"/>
                </a:solidFill>
                <a:latin typeface="Arial"/>
              </a:rPr>
              <a:t>The asymmetric risk: only discovered misses can ever be measured.</a:t>
            </a:r>
          </a:p>
        </p:txBody>
      </p:sp>
      <p:sp>
        <p:nvSpPr>
          <p:cNvPr id="10" name="Rounded Rectangle 9"/>
          <p:cNvSpPr/>
          <p:nvPr/>
        </p:nvSpPr>
        <p:spPr>
          <a:xfrm>
            <a:off x="502920" y="2907791"/>
            <a:ext cx="5532120" cy="585216"/>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tIns="0" rIns="128016" bIns="0"/>
          <a:lstStyle/>
          <a:p>
            <a:pPr algn="l">
              <a:lnSpc>
                <a:spcPct val="112000"/>
              </a:lnSpc>
              <a:spcAft>
                <a:spcPts val="0"/>
              </a:spcAft>
            </a:pPr>
            <a:r>
              <a:rPr sz="1050" b="1">
                <a:solidFill>
                  <a:srgbClr val="C2410C"/>
                </a:solidFill>
                <a:latin typeface="Arial"/>
              </a:rPr>
              <a:t>Cost   </a:t>
            </a:r>
            <a:r>
              <a:rPr sz="1050" b="0">
                <a:solidFill>
                  <a:srgbClr val="0F172A"/>
                </a:solidFill>
                <a:latin typeface="Arial"/>
              </a:rPr>
              <a:t>27% fewer tokens than one judge, but 3.6× the reference dollars — the verifier runs strong-tier.</a:t>
            </a:r>
          </a:p>
        </p:txBody>
      </p:sp>
      <p:sp>
        <p:nvSpPr>
          <p:cNvPr id="11" name="Rounded Rectangle 10"/>
          <p:cNvSpPr/>
          <p:nvPr/>
        </p:nvSpPr>
        <p:spPr>
          <a:xfrm>
            <a:off x="502920" y="3566160"/>
            <a:ext cx="5532120" cy="585216"/>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tIns="0" rIns="128016" bIns="0"/>
          <a:lstStyle/>
          <a:p>
            <a:pPr algn="l">
              <a:lnSpc>
                <a:spcPct val="112000"/>
              </a:lnSpc>
              <a:spcAft>
                <a:spcPts val="0"/>
              </a:spcAft>
            </a:pPr>
            <a:r>
              <a:rPr sz="1050" b="1">
                <a:solidFill>
                  <a:srgbClr val="C2410C"/>
                </a:solidFill>
                <a:latin typeface="Arial"/>
              </a:rPr>
              <a:t>Latency   </a:t>
            </a:r>
            <a:r>
              <a:rPr sz="1050" b="0">
                <a:solidFill>
                  <a:srgbClr val="0F172A"/>
                </a:solidFill>
                <a:latin typeface="Arial"/>
              </a:rPr>
              <a:t>~20s a call on free models. A morning batch, not a per-click interaction.</a:t>
            </a:r>
          </a:p>
        </p:txBody>
      </p:sp>
      <p:sp>
        <p:nvSpPr>
          <p:cNvPr id="12" name="Rounded Rectangle 11"/>
          <p:cNvSpPr/>
          <p:nvPr/>
        </p:nvSpPr>
        <p:spPr>
          <a:xfrm>
            <a:off x="502920" y="4224528"/>
            <a:ext cx="5532120" cy="585216"/>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tIns="0" rIns="128016" bIns="0"/>
          <a:lstStyle/>
          <a:p>
            <a:pPr algn="l">
              <a:lnSpc>
                <a:spcPct val="112000"/>
              </a:lnSpc>
              <a:spcAft>
                <a:spcPts val="0"/>
              </a:spcAft>
            </a:pPr>
            <a:r>
              <a:rPr sz="1050" b="1">
                <a:solidFill>
                  <a:srgbClr val="C2410C"/>
                </a:solidFill>
                <a:latin typeface="Arial"/>
              </a:rPr>
              <a:t>Trust   </a:t>
            </a:r>
            <a:r>
              <a:rPr sz="1050" b="0">
                <a:solidFill>
                  <a:srgbClr val="0F172A"/>
                </a:solidFill>
                <a:latin typeface="Arial"/>
              </a:rPr>
              <a:t>Cited fields are verified; the prose around them is not. It can still read wrong.</a:t>
            </a:r>
          </a:p>
        </p:txBody>
      </p:sp>
      <p:sp>
        <p:nvSpPr>
          <p:cNvPr id="13" name="Rounded Rectangle 12"/>
          <p:cNvSpPr/>
          <p:nvPr/>
        </p:nvSpPr>
        <p:spPr>
          <a:xfrm>
            <a:off x="502920" y="4882896"/>
            <a:ext cx="5532120" cy="585216"/>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tIns="0" rIns="128016" bIns="0"/>
          <a:lstStyle/>
          <a:p>
            <a:pPr algn="l">
              <a:lnSpc>
                <a:spcPct val="112000"/>
              </a:lnSpc>
              <a:spcAft>
                <a:spcPts val="0"/>
              </a:spcAft>
            </a:pPr>
            <a:r>
              <a:rPr sz="1050" b="1">
                <a:solidFill>
                  <a:srgbClr val="64748B"/>
                </a:solidFill>
                <a:latin typeface="Arial"/>
              </a:rPr>
              <a:t>Abuse   </a:t>
            </a:r>
            <a:r>
              <a:rPr sz="1050" b="0">
                <a:solidFill>
                  <a:srgbClr val="0F172A"/>
                </a:solidFill>
                <a:latin typeface="Arial"/>
              </a:rPr>
              <a:t>Notes are untrusted input; bulk clear and broad blocklist entries are gated.</a:t>
            </a:r>
          </a:p>
        </p:txBody>
      </p:sp>
      <p:sp>
        <p:nvSpPr>
          <p:cNvPr id="14" name="Rounded Rectangle 13"/>
          <p:cNvSpPr/>
          <p:nvPr/>
        </p:nvSpPr>
        <p:spPr>
          <a:xfrm>
            <a:off x="502920" y="5541264"/>
            <a:ext cx="5532120" cy="585216"/>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tIns="0" rIns="128016" bIns="0"/>
          <a:lstStyle/>
          <a:p>
            <a:pPr algn="l">
              <a:lnSpc>
                <a:spcPct val="112000"/>
              </a:lnSpc>
              <a:spcAft>
                <a:spcPts val="0"/>
              </a:spcAft>
            </a:pPr>
            <a:r>
              <a:rPr sz="1050" b="1">
                <a:solidFill>
                  <a:srgbClr val="64748B"/>
                </a:solidFill>
                <a:latin typeface="Arial"/>
              </a:rPr>
              <a:t>Fairness   </a:t>
            </a:r>
            <a:r>
              <a:rPr sz="1050" b="0">
                <a:solidFill>
                  <a:srgbClr val="0F172A"/>
                </a:solidFill>
                <a:latin typeface="Arial"/>
              </a:rPr>
              <a:t>Distance and weekend signals can proxy for rural or shift-work providers.</a:t>
            </a:r>
          </a:p>
        </p:txBody>
      </p:sp>
      <p:sp>
        <p:nvSpPr>
          <p:cNvPr id="15" name="TextBox 14"/>
          <p:cNvSpPr txBox="1"/>
          <p:nvPr/>
        </p:nvSpPr>
        <p:spPr>
          <a:xfrm>
            <a:off x="6382512" y="1335024"/>
            <a:ext cx="5303520" cy="201168"/>
          </a:xfrm>
          <a:prstGeom prst="rect">
            <a:avLst/>
          </a:prstGeom>
          <a:noFill/>
        </p:spPr>
        <p:txBody>
          <a:bodyPr wrap="square" anchor="t" lIns="0" tIns="0" rIns="0" bIns="0">
            <a:spAutoFit/>
          </a:bodyPr>
          <a:lstStyle/>
          <a:p>
            <a:pPr algn="l">
              <a:lnSpc>
                <a:spcPct val="100000"/>
              </a:lnSpc>
              <a:spcAft>
                <a:spcPts val="0"/>
              </a:spcAft>
            </a:pPr>
            <a:r>
              <a:rPr sz="900" b="1">
                <a:solidFill>
                  <a:srgbClr val="64748B"/>
                </a:solidFill>
                <a:latin typeface="Arial"/>
              </a:rPr>
              <a:t>DELIBERATELY CUT, AND WHY</a:t>
            </a:r>
          </a:p>
        </p:txBody>
      </p:sp>
      <p:sp>
        <p:nvSpPr>
          <p:cNvPr id="16" name="Rounded Rectangle 15"/>
          <p:cNvSpPr/>
          <p:nvPr/>
        </p:nvSpPr>
        <p:spPr>
          <a:xfrm>
            <a:off x="6382512" y="1591056"/>
            <a:ext cx="5303520" cy="1591056"/>
          </a:xfrm>
          <a:prstGeom prst="roundRect">
            <a:avLst>
              <a:gd name="adj" fmla="val 4500"/>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tIns="109728" rIns="128016" bIns="91440"/>
          <a:lstStyle/>
          <a:p>
            <a:pPr algn="l" marL="146304" indent="-146304">
              <a:lnSpc>
                <a:spcPct val="105000"/>
              </a:lnSpc>
              <a:spcAft>
                <a:spcPts val="600"/>
              </a:spcAft>
              <a:buChar char="–"/>
            </a:pPr>
            <a:r>
              <a:rPr sz="1050" b="0">
                <a:solidFill>
                  <a:srgbClr val="0F172A"/>
                </a:solidFill>
                <a:latin typeface="Arial"/>
              </a:rPr>
              <a:t>Auth, multi-tenancy, deployment — out of scope in the brief</a:t>
            </a:r>
          </a:p>
          <a:p>
            <a:pPr algn="l" marL="146304" indent="-146304">
              <a:lnSpc>
                <a:spcPct val="105000"/>
              </a:lnSpc>
              <a:spcAft>
                <a:spcPts val="600"/>
              </a:spcAft>
              <a:buChar char="–"/>
            </a:pPr>
            <a:r>
              <a:rPr sz="1050" b="0">
                <a:solidFill>
                  <a:srgbClr val="0F172A"/>
                </a:solidFill>
                <a:latin typeface="Arial"/>
              </a:rPr>
              <a:t>A trained model — no labels, so any accuracy figure would be fiction</a:t>
            </a:r>
          </a:p>
          <a:p>
            <a:pPr algn="l" marL="146304" indent="-146304">
              <a:lnSpc>
                <a:spcPct val="105000"/>
              </a:lnSpc>
              <a:spcAft>
                <a:spcPts val="600"/>
              </a:spcAft>
              <a:buChar char="–"/>
            </a:pPr>
            <a:r>
              <a:rPr sz="1050" b="0">
                <a:solidFill>
                  <a:srgbClr val="0F172A"/>
                </a:solidFill>
                <a:latin typeface="Arial"/>
              </a:rPr>
              <a:t>Provider / member graph — the CSV has no such IDs; the code is ready for them</a:t>
            </a:r>
          </a:p>
          <a:p>
            <a:pPr algn="l" marL="146304" indent="-146304">
              <a:lnSpc>
                <a:spcPct val="105000"/>
              </a:lnSpc>
              <a:spcAft>
                <a:spcPts val="0"/>
              </a:spcAft>
              <a:buChar char="–"/>
            </a:pPr>
            <a:r>
              <a:rPr sz="1050" b="0">
                <a:solidFill>
                  <a:srgbClr val="0F172A"/>
                </a:solidFill>
                <a:latin typeface="Arial"/>
              </a:rPr>
              <a:t>External enrichment — compelling, but not the core of the AI experience</a:t>
            </a:r>
          </a:p>
        </p:txBody>
      </p:sp>
      <p:sp>
        <p:nvSpPr>
          <p:cNvPr id="17" name="TextBox 16"/>
          <p:cNvSpPr txBox="1"/>
          <p:nvPr/>
        </p:nvSpPr>
        <p:spPr>
          <a:xfrm>
            <a:off x="6382512" y="3310128"/>
            <a:ext cx="5303520" cy="201168"/>
          </a:xfrm>
          <a:prstGeom prst="rect">
            <a:avLst/>
          </a:prstGeom>
          <a:noFill/>
        </p:spPr>
        <p:txBody>
          <a:bodyPr wrap="square" anchor="t" lIns="0" tIns="0" rIns="0" bIns="0">
            <a:spAutoFit/>
          </a:bodyPr>
          <a:lstStyle/>
          <a:p>
            <a:pPr algn="l">
              <a:lnSpc>
                <a:spcPct val="100000"/>
              </a:lnSpc>
              <a:spcAft>
                <a:spcPts val="0"/>
              </a:spcAft>
            </a:pPr>
            <a:r>
              <a:rPr sz="900" b="1">
                <a:solidFill>
                  <a:srgbClr val="1D4ED8"/>
                </a:solidFill>
                <a:latin typeface="Arial"/>
              </a:rPr>
              <a:t>WITH MORE TIME, IN PRIORITY ORDER</a:t>
            </a:r>
          </a:p>
        </p:txBody>
      </p:sp>
      <p:sp>
        <p:nvSpPr>
          <p:cNvPr id="18" name="Rounded Rectangle 17"/>
          <p:cNvSpPr/>
          <p:nvPr/>
        </p:nvSpPr>
        <p:spPr>
          <a:xfrm>
            <a:off x="6382512" y="3566160"/>
            <a:ext cx="5303520" cy="731520"/>
          </a:xfrm>
          <a:prstGeom prst="roundRect">
            <a:avLst>
              <a:gd name="adj" fmla="val 4500"/>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tIns="109728" rIns="128016" bIns="91440"/>
          <a:lstStyle/>
          <a:p>
            <a:pPr algn="l">
              <a:lnSpc>
                <a:spcPct val="112000"/>
              </a:lnSpc>
              <a:spcAft>
                <a:spcPts val="0"/>
              </a:spcAft>
            </a:pPr>
            <a:r>
              <a:rPr sz="1050" b="1">
                <a:solidFill>
                  <a:srgbClr val="1D4ED8"/>
                </a:solidFill>
                <a:latin typeface="Arial"/>
              </a:rPr>
              <a:t>1   </a:t>
            </a:r>
            <a:r>
              <a:rPr sz="1050" b="1">
                <a:solidFill>
                  <a:srgbClr val="0F172A"/>
                </a:solidFill>
                <a:latin typeface="Arial"/>
              </a:rPr>
              <a:t>A false-negative safety net  </a:t>
            </a:r>
            <a:r>
              <a:rPr sz="1050" b="0">
                <a:solidFill>
                  <a:srgbClr val="64748B"/>
                </a:solidFill>
                <a:latin typeface="Arial"/>
              </a:rPr>
              <a:t>miss-rate from confirmed outcomes · look-back that reopens cleared lookalikes · an independent adversarial reviewer</a:t>
            </a:r>
          </a:p>
        </p:txBody>
      </p:sp>
      <p:sp>
        <p:nvSpPr>
          <p:cNvPr id="19" name="Rounded Rectangle 18"/>
          <p:cNvSpPr/>
          <p:nvPr/>
        </p:nvSpPr>
        <p:spPr>
          <a:xfrm>
            <a:off x="6382512" y="4389120"/>
            <a:ext cx="5303520" cy="585216"/>
          </a:xfrm>
          <a:prstGeom prst="roundRect">
            <a:avLst>
              <a:gd name="adj" fmla="val 4500"/>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tIns="109728" rIns="128016" bIns="91440"/>
          <a:lstStyle/>
          <a:p>
            <a:pPr algn="l">
              <a:lnSpc>
                <a:spcPct val="112000"/>
              </a:lnSpc>
              <a:spcAft>
                <a:spcPts val="0"/>
              </a:spcAft>
            </a:pPr>
            <a:r>
              <a:rPr sz="1050" b="1">
                <a:solidFill>
                  <a:srgbClr val="1D4ED8"/>
                </a:solidFill>
                <a:latin typeface="Arial"/>
              </a:rPr>
              <a:t>2   </a:t>
            </a:r>
            <a:r>
              <a:rPr sz="1050" b="1">
                <a:solidFill>
                  <a:srgbClr val="0F172A"/>
                </a:solidFill>
                <a:latin typeface="Arial"/>
              </a:rPr>
              <a:t>Learn from outcomes  </a:t>
            </a:r>
            <a:r>
              <a:rPr sz="1050" b="0">
                <a:solidFill>
                  <a:srgbClr val="64748B"/>
                </a:solidFill>
                <a:latin typeface="Arial"/>
              </a:rPr>
              <a:t>re-fit weights and thresholds on confirmed fraud instead of fixed calibration</a:t>
            </a:r>
          </a:p>
        </p:txBody>
      </p:sp>
      <p:sp>
        <p:nvSpPr>
          <p:cNvPr id="20" name="Rounded Rectangle 19"/>
          <p:cNvSpPr/>
          <p:nvPr/>
        </p:nvSpPr>
        <p:spPr>
          <a:xfrm>
            <a:off x="6382512" y="5065776"/>
            <a:ext cx="5303520" cy="585216"/>
          </a:xfrm>
          <a:prstGeom prst="roundRect">
            <a:avLst>
              <a:gd name="adj" fmla="val 4500"/>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tIns="109728" rIns="128016" bIns="91440"/>
          <a:lstStyle/>
          <a:p>
            <a:pPr algn="l">
              <a:lnSpc>
                <a:spcPct val="112000"/>
              </a:lnSpc>
              <a:spcAft>
                <a:spcPts val="0"/>
              </a:spcAft>
            </a:pPr>
            <a:r>
              <a:rPr sz="1050" b="1">
                <a:solidFill>
                  <a:srgbClr val="1D4ED8"/>
                </a:solidFill>
                <a:latin typeface="Arial"/>
              </a:rPr>
              <a:t>3   </a:t>
            </a:r>
            <a:r>
              <a:rPr sz="1050" b="1">
                <a:solidFill>
                  <a:srgbClr val="0F172A"/>
                </a:solidFill>
                <a:latin typeface="Arial"/>
              </a:rPr>
              <a:t>A labelled backtest  </a:t>
            </a:r>
            <a:r>
              <a:rPr sz="1050" b="0">
                <a:solidFill>
                  <a:srgbClr val="64748B"/>
                </a:solidFill>
                <a:latin typeface="Arial"/>
              </a:rPr>
              <a:t>the moment real outcomes exist, replace synthetic-label evaluation</a:t>
            </a:r>
          </a:p>
        </p:txBody>
      </p:sp>
      <p:sp>
        <p:nvSpPr>
          <p:cNvPr id="21" name="Rounded Rectangle 20"/>
          <p:cNvSpPr/>
          <p:nvPr/>
        </p:nvSpPr>
        <p:spPr>
          <a:xfrm>
            <a:off x="6382512" y="5760720"/>
            <a:ext cx="5303520" cy="603504"/>
          </a:xfrm>
          <a:prstGeom prst="roundRect">
            <a:avLst>
              <a:gd name="adj" fmla="val 4500"/>
            </a:avLst>
          </a:prstGeom>
          <a:solidFill>
            <a:srgbClr val="FFFFFF"/>
          </a:solidFill>
          <a:ln w="12700">
            <a:solidFill>
              <a:srgbClr val="6474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46304" tIns="109728" rIns="128016" bIns="91440"/>
          <a:lstStyle/>
          <a:p>
            <a:pPr algn="l">
              <a:lnSpc>
                <a:spcPct val="112000"/>
              </a:lnSpc>
              <a:spcAft>
                <a:spcPts val="0"/>
              </a:spcAft>
            </a:pPr>
            <a:r>
              <a:rPr sz="1000" b="1">
                <a:solidFill>
                  <a:srgbClr val="64748B"/>
                </a:solidFill>
                <a:latin typeface="Arial"/>
              </a:rPr>
              <a:t>Prototyped, then deferred.  </a:t>
            </a:r>
            <a:r>
              <a:rPr sz="1000" b="0">
                <a:solidFill>
                  <a:srgbClr val="64748B"/>
                </a:solidFill>
                <a:latin typeface="Arial"/>
              </a:rPr>
              <a:t>A statistical anomaly detector for the silent cases: at 50 cases its flagged set moved with the random seed, so I would not ship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185855" cy="457200"/>
          </a:xfrm>
          <a:prstGeom prst="rect">
            <a:avLst/>
          </a:prstGeom>
          <a:noFill/>
        </p:spPr>
        <p:txBody>
          <a:bodyPr wrap="square" anchor="t" lIns="0" tIns="0" rIns="0" bIns="0">
            <a:spAutoFit/>
          </a:bodyPr>
          <a:lstStyle/>
          <a:p>
            <a:pPr algn="l">
              <a:lnSpc>
                <a:spcPct val="100000"/>
              </a:lnSpc>
              <a:spcAft>
                <a:spcPts val="0"/>
              </a:spcAft>
            </a:pPr>
            <a:r>
              <a:rPr sz="2600" b="1">
                <a:solidFill>
                  <a:srgbClr val="0F172A"/>
                </a:solidFill>
                <a:latin typeface="Arial"/>
              </a:rPr>
              <a:t>The AI advises. Only a human decides.</a:t>
            </a:r>
          </a:p>
        </p:txBody>
      </p:sp>
      <p:sp>
        <p:nvSpPr>
          <p:cNvPr id="3" name="TextBox 2"/>
          <p:cNvSpPr txBox="1"/>
          <p:nvPr/>
        </p:nvSpPr>
        <p:spPr>
          <a:xfrm>
            <a:off x="502920" y="841248"/>
            <a:ext cx="11185855" cy="256032"/>
          </a:xfrm>
          <a:prstGeom prst="rect">
            <a:avLst/>
          </a:prstGeom>
          <a:noFill/>
        </p:spPr>
        <p:txBody>
          <a:bodyPr wrap="square" anchor="t" lIns="0" tIns="0" rIns="0" bIns="0">
            <a:spAutoFit/>
          </a:bodyPr>
          <a:lstStyle/>
          <a:p>
            <a:pPr algn="l">
              <a:lnSpc>
                <a:spcPct val="100000"/>
              </a:lnSpc>
              <a:spcAft>
                <a:spcPts val="0"/>
              </a:spcAft>
            </a:pPr>
            <a:r>
              <a:rPr sz="1150" b="0">
                <a:solidFill>
                  <a:srgbClr val="64748B"/>
                </a:solidFill>
                <a:latin typeface="Arial"/>
              </a:rPr>
              <a:t>How investigators trust, validate and override the system</a:t>
            </a:r>
          </a:p>
        </p:txBody>
      </p:sp>
      <p:sp>
        <p:nvSpPr>
          <p:cNvPr id="4" name="Rectangle 3"/>
          <p:cNvSpPr/>
          <p:nvPr/>
        </p:nvSpPr>
        <p:spPr>
          <a:xfrm>
            <a:off x="502920" y="1152144"/>
            <a:ext cx="11185855"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10528"/>
            <a:ext cx="7315200" cy="219456"/>
          </a:xfrm>
          <a:prstGeom prst="rect">
            <a:avLst/>
          </a:prstGeom>
          <a:noFill/>
        </p:spPr>
        <p:txBody>
          <a:bodyPr wrap="square" anchor="t" lIns="0" tIns="0" rIns="0" bIns="0">
            <a:spAutoFit/>
          </a:bodyPr>
          <a:lstStyle/>
          <a:p>
            <a:pPr algn="l">
              <a:lnSpc>
                <a:spcPct val="100000"/>
              </a:lnSpc>
              <a:spcAft>
                <a:spcPts val="0"/>
              </a:spcAft>
            </a:pPr>
            <a:r>
              <a:rPr sz="850" b="0">
                <a:solidFill>
                  <a:srgbClr val="94A3B8"/>
                </a:solidFill>
                <a:latin typeface="Arial"/>
              </a:rPr>
              <a:t>Junior AI Investigator  ·  AI-first case review for fraud investigators</a:t>
            </a:r>
          </a:p>
        </p:txBody>
      </p:sp>
      <p:sp>
        <p:nvSpPr>
          <p:cNvPr id="6" name="TextBox 5"/>
          <p:cNvSpPr txBox="1"/>
          <p:nvPr/>
        </p:nvSpPr>
        <p:spPr>
          <a:xfrm>
            <a:off x="10774375" y="6510528"/>
            <a:ext cx="914400" cy="219456"/>
          </a:xfrm>
          <a:prstGeom prst="rect">
            <a:avLst/>
          </a:prstGeom>
          <a:noFill/>
        </p:spPr>
        <p:txBody>
          <a:bodyPr wrap="square" anchor="t" lIns="0" tIns="0" rIns="0" bIns="0">
            <a:spAutoFit/>
          </a:bodyPr>
          <a:lstStyle/>
          <a:p>
            <a:pPr algn="r">
              <a:lnSpc>
                <a:spcPct val="100000"/>
              </a:lnSpc>
              <a:spcAft>
                <a:spcPts val="0"/>
              </a:spcAft>
            </a:pPr>
            <a:r>
              <a:rPr sz="850" b="0">
                <a:solidFill>
                  <a:srgbClr val="94A3B8"/>
                </a:solidFill>
                <a:latin typeface="Arial"/>
              </a:rPr>
              <a:t>4 / 4</a:t>
            </a:r>
          </a:p>
        </p:txBody>
      </p:sp>
      <p:sp>
        <p:nvSpPr>
          <p:cNvPr id="7" name="Rounded Rectangle 6"/>
          <p:cNvSpPr/>
          <p:nvPr/>
        </p:nvSpPr>
        <p:spPr>
          <a:xfrm>
            <a:off x="502920" y="1335024"/>
            <a:ext cx="3593592" cy="786384"/>
          </a:xfrm>
          <a:prstGeom prst="roundRect">
            <a:avLst>
              <a:gd name="adj" fmla="val 4500"/>
            </a:avLst>
          </a:prstGeom>
          <a:solidFill>
            <a:srgbClr val="FF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tIns="109728" rIns="128016" bIns="91440"/>
          <a:lstStyle/>
          <a:p>
            <a:pPr algn="ctr">
              <a:lnSpc>
                <a:spcPct val="100000"/>
              </a:lnSpc>
              <a:spcAft>
                <a:spcPts val="300"/>
              </a:spcAft>
            </a:pPr>
            <a:r>
              <a:rPr sz="1300" b="1">
                <a:solidFill>
                  <a:srgbClr val="C2410C"/>
                </a:solidFill>
                <a:latin typeface="Arial"/>
              </a:rPr>
              <a:t>AI proposes</a:t>
            </a:r>
          </a:p>
          <a:p>
            <a:pPr algn="ctr">
              <a:lnSpc>
                <a:spcPct val="100000"/>
              </a:lnSpc>
              <a:spcAft>
                <a:spcPts val="0"/>
              </a:spcAft>
            </a:pPr>
            <a:r>
              <a:rPr sz="950" b="0">
                <a:solidFill>
                  <a:srgbClr val="64748B"/>
                </a:solidFill>
                <a:latin typeface="Arial"/>
              </a:rPr>
              <a:t>summary · indicators · risk · next step</a:t>
            </a:r>
          </a:p>
        </p:txBody>
      </p:sp>
      <p:sp>
        <p:nvSpPr>
          <p:cNvPr id="8" name="Right Arrow 7"/>
          <p:cNvSpPr/>
          <p:nvPr/>
        </p:nvSpPr>
        <p:spPr>
          <a:xfrm>
            <a:off x="4137660" y="1627632"/>
            <a:ext cx="118872" cy="201168"/>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297680" y="1335024"/>
            <a:ext cx="3593592" cy="786384"/>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tIns="109728" rIns="128016" bIns="91440"/>
          <a:lstStyle/>
          <a:p>
            <a:pPr algn="ctr">
              <a:lnSpc>
                <a:spcPct val="100000"/>
              </a:lnSpc>
              <a:spcAft>
                <a:spcPts val="300"/>
              </a:spcAft>
            </a:pPr>
            <a:r>
              <a:rPr sz="1300" b="1">
                <a:solidFill>
                  <a:srgbClr val="0F172A"/>
                </a:solidFill>
                <a:latin typeface="Arial"/>
              </a:rPr>
              <a:t>Code verifies</a:t>
            </a:r>
          </a:p>
          <a:p>
            <a:pPr algn="ctr">
              <a:lnSpc>
                <a:spcPct val="100000"/>
              </a:lnSpc>
              <a:spcAft>
                <a:spcPts val="0"/>
              </a:spcAft>
            </a:pPr>
            <a:r>
              <a:rPr sz="950" b="0">
                <a:solidFill>
                  <a:srgbClr val="64748B"/>
                </a:solidFill>
                <a:latin typeface="Arial"/>
              </a:rPr>
              <a:t>re-ground · clamp ±20 · refuse</a:t>
            </a:r>
          </a:p>
        </p:txBody>
      </p:sp>
      <p:sp>
        <p:nvSpPr>
          <p:cNvPr id="10" name="Right Arrow 9"/>
          <p:cNvSpPr/>
          <p:nvPr/>
        </p:nvSpPr>
        <p:spPr>
          <a:xfrm>
            <a:off x="7932420" y="1627632"/>
            <a:ext cx="118872" cy="201168"/>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92440" y="1335024"/>
            <a:ext cx="3593592" cy="786384"/>
          </a:xfrm>
          <a:prstGeom prst="roundRect">
            <a:avLst>
              <a:gd name="adj" fmla="val 4500"/>
            </a:avLst>
          </a:prstGeom>
          <a:solidFill>
            <a:srgbClr val="E6F5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tIns="109728" rIns="128016" bIns="91440"/>
          <a:lstStyle/>
          <a:p>
            <a:pPr algn="ctr">
              <a:lnSpc>
                <a:spcPct val="100000"/>
              </a:lnSpc>
              <a:spcAft>
                <a:spcPts val="300"/>
              </a:spcAft>
            </a:pPr>
            <a:r>
              <a:rPr sz="1300" b="1">
                <a:solidFill>
                  <a:srgbClr val="047857"/>
                </a:solidFill>
                <a:latin typeface="Arial"/>
              </a:rPr>
              <a:t>Human decides</a:t>
            </a:r>
          </a:p>
          <a:p>
            <a:pPr algn="ctr">
              <a:lnSpc>
                <a:spcPct val="100000"/>
              </a:lnSpc>
              <a:spcAft>
                <a:spcPts val="0"/>
              </a:spcAft>
            </a:pPr>
            <a:r>
              <a:rPr sz="950" b="0">
                <a:solidFill>
                  <a:srgbClr val="64748B"/>
                </a:solidFill>
                <a:latin typeface="Arial"/>
              </a:rPr>
              <a:t>clear · escalate · note · override</a:t>
            </a:r>
          </a:p>
        </p:txBody>
      </p:sp>
      <p:sp>
        <p:nvSpPr>
          <p:cNvPr id="12" name="TextBox 11"/>
          <p:cNvSpPr txBox="1"/>
          <p:nvPr/>
        </p:nvSpPr>
        <p:spPr>
          <a:xfrm>
            <a:off x="502920" y="2340864"/>
            <a:ext cx="5486400" cy="201168"/>
          </a:xfrm>
          <a:prstGeom prst="rect">
            <a:avLst/>
          </a:prstGeom>
          <a:noFill/>
        </p:spPr>
        <p:txBody>
          <a:bodyPr wrap="square" anchor="t" lIns="0" tIns="0" rIns="0" bIns="0">
            <a:spAutoFit/>
          </a:bodyPr>
          <a:lstStyle/>
          <a:p>
            <a:pPr algn="l">
              <a:lnSpc>
                <a:spcPct val="100000"/>
              </a:lnSpc>
              <a:spcAft>
                <a:spcPts val="0"/>
              </a:spcAft>
            </a:pPr>
            <a:r>
              <a:rPr sz="900" b="1">
                <a:solidFill>
                  <a:srgbClr val="94A3B8"/>
                </a:solidFill>
                <a:latin typeface="Arial"/>
              </a:rPr>
              <a:t>WHAT THE AI MAY DO — AND WHAT IT MAY NEVER DO</a:t>
            </a:r>
          </a:p>
        </p:txBody>
      </p:sp>
      <p:sp>
        <p:nvSpPr>
          <p:cNvPr id="13" name="Rounded Rectangle 12"/>
          <p:cNvSpPr/>
          <p:nvPr/>
        </p:nvSpPr>
        <p:spPr>
          <a:xfrm>
            <a:off x="502920" y="2596896"/>
            <a:ext cx="5532120" cy="1554480"/>
          </a:xfrm>
          <a:prstGeom prst="roundRect">
            <a:avLst>
              <a:gd name="adj" fmla="val 4500"/>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tIns="109728" rIns="128016" bIns="91440"/>
          <a:lstStyle/>
          <a:p>
            <a:pPr algn="l">
              <a:lnSpc>
                <a:spcPct val="100000"/>
              </a:lnSpc>
              <a:spcAft>
                <a:spcPts val="500"/>
              </a:spcAft>
            </a:pPr>
            <a:r>
              <a:rPr sz="1000" b="1">
                <a:solidFill>
                  <a:srgbClr val="C2410C"/>
                </a:solidFill>
                <a:latin typeface="Arial"/>
              </a:rPr>
              <a:t>The AI can</a:t>
            </a:r>
          </a:p>
          <a:p>
            <a:pPr algn="l">
              <a:lnSpc>
                <a:spcPct val="112000"/>
              </a:lnSpc>
              <a:spcAft>
                <a:spcPts val="900"/>
              </a:spcAft>
            </a:pPr>
            <a:r>
              <a:rPr sz="1100" b="0">
                <a:solidFill>
                  <a:srgbClr val="0F172A"/>
                </a:solidFill>
                <a:latin typeface="Arial"/>
              </a:rPr>
              <a:t>Rank and explain · recommend an action · draft an escalation · answer questions using read-only tools.</a:t>
            </a:r>
          </a:p>
          <a:p>
            <a:pPr algn="l">
              <a:lnSpc>
                <a:spcPct val="100000"/>
              </a:lnSpc>
              <a:spcAft>
                <a:spcPts val="500"/>
              </a:spcAft>
            </a:pPr>
            <a:r>
              <a:rPr sz="1000" b="1">
                <a:solidFill>
                  <a:srgbClr val="047857"/>
                </a:solidFill>
                <a:latin typeface="Arial"/>
              </a:rPr>
              <a:t>Only a human can</a:t>
            </a:r>
          </a:p>
          <a:p>
            <a:pPr algn="l">
              <a:lnSpc>
                <a:spcPct val="112000"/>
              </a:lnSpc>
              <a:spcAft>
                <a:spcPts val="0"/>
              </a:spcAft>
            </a:pPr>
            <a:r>
              <a:rPr sz="1100" b="0">
                <a:solidFill>
                  <a:srgbClr val="0F172A"/>
                </a:solidFill>
                <a:latin typeface="Arial"/>
              </a:rPr>
              <a:t>Clear · escalate · confirm fraud · delete a note.  </a:t>
            </a:r>
            <a:r>
              <a:rPr sz="1100" b="1">
                <a:solidFill>
                  <a:srgbClr val="047857"/>
                </a:solidFill>
                <a:latin typeface="Arial"/>
              </a:rPr>
              <a:t>Supervisor only: </a:t>
            </a:r>
            <a:r>
              <a:rPr sz="1100" b="0">
                <a:solidFill>
                  <a:srgbClr val="0F172A"/>
                </a:solidFill>
                <a:latin typeface="Arial"/>
              </a:rPr>
              <a:t>override a decline, activate a hard rule.</a:t>
            </a:r>
          </a:p>
        </p:txBody>
      </p:sp>
      <p:sp>
        <p:nvSpPr>
          <p:cNvPr id="14" name="TextBox 13"/>
          <p:cNvSpPr txBox="1"/>
          <p:nvPr/>
        </p:nvSpPr>
        <p:spPr>
          <a:xfrm>
            <a:off x="502920" y="4297680"/>
            <a:ext cx="5486400" cy="201168"/>
          </a:xfrm>
          <a:prstGeom prst="rect">
            <a:avLst/>
          </a:prstGeom>
          <a:noFill/>
        </p:spPr>
        <p:txBody>
          <a:bodyPr wrap="square" anchor="t" lIns="0" tIns="0" rIns="0" bIns="0">
            <a:spAutoFit/>
          </a:bodyPr>
          <a:lstStyle/>
          <a:p>
            <a:pPr algn="l">
              <a:lnSpc>
                <a:spcPct val="100000"/>
              </a:lnSpc>
              <a:spcAft>
                <a:spcPts val="0"/>
              </a:spcAft>
            </a:pPr>
            <a:r>
              <a:rPr sz="900" b="1">
                <a:solidFill>
                  <a:srgbClr val="94A3B8"/>
                </a:solidFill>
                <a:latin typeface="Arial"/>
              </a:rPr>
              <a:t>NOTES ARE THE STEERING WHEEL</a:t>
            </a:r>
          </a:p>
        </p:txBody>
      </p:sp>
      <p:sp>
        <p:nvSpPr>
          <p:cNvPr id="15" name="Rounded Rectangle 14"/>
          <p:cNvSpPr/>
          <p:nvPr/>
        </p:nvSpPr>
        <p:spPr>
          <a:xfrm>
            <a:off x="502920" y="4553712"/>
            <a:ext cx="5532120" cy="1737360"/>
          </a:xfrm>
          <a:prstGeom prst="roundRect">
            <a:avLst>
              <a:gd name="adj" fmla="val 4500"/>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tIns="109728" rIns="128016" bIns="91440"/>
          <a:lstStyle/>
          <a:p>
            <a:pPr algn="l" marL="146304" indent="-146304">
              <a:lnSpc>
                <a:spcPct val="105000"/>
              </a:lnSpc>
              <a:spcAft>
                <a:spcPts val="700"/>
              </a:spcAft>
              <a:buChar char="–"/>
            </a:pPr>
            <a:r>
              <a:rPr sz="1100" b="0">
                <a:solidFill>
                  <a:srgbClr val="0F172A"/>
                </a:solidFill>
                <a:latin typeface="Arial"/>
              </a:rPr>
              <a:t>A note changes the next assessment — the case is marked stale at once</a:t>
            </a:r>
          </a:p>
          <a:p>
            <a:pPr algn="l" marL="146304" indent="-146304">
              <a:lnSpc>
                <a:spcPct val="105000"/>
              </a:lnSpc>
              <a:spcAft>
                <a:spcPts val="700"/>
              </a:spcAft>
              <a:buChar char="–"/>
            </a:pPr>
            <a:r>
              <a:rPr sz="1100" b="0">
                <a:solidFill>
                  <a:srgbClr val="0F172A"/>
                </a:solidFill>
                <a:latin typeface="Arial"/>
              </a:rPr>
              <a:t>Delete it and it is purged everywhere: assessment, chat, related cases</a:t>
            </a:r>
          </a:p>
          <a:p>
            <a:pPr algn="l" marL="146304" indent="-146304">
              <a:lnSpc>
                <a:spcPct val="105000"/>
              </a:lnSpc>
              <a:spcAft>
                <a:spcPts val="700"/>
              </a:spcAft>
              <a:buChar char="–"/>
            </a:pPr>
            <a:r>
              <a:rPr sz="1100" b="0">
                <a:solidFill>
                  <a:srgbClr val="0F172A"/>
                </a:solidFill>
                <a:latin typeface="Arial"/>
              </a:rPr>
              <a:t>Notes are untrusted text: a hidden instruction is not obeyed (tested)</a:t>
            </a:r>
          </a:p>
          <a:p>
            <a:pPr algn="l" marL="146304" indent="-146304">
              <a:lnSpc>
                <a:spcPct val="105000"/>
              </a:lnSpc>
              <a:spcAft>
                <a:spcPts val="0"/>
              </a:spcAft>
              <a:buChar char="–"/>
            </a:pPr>
            <a:r>
              <a:rPr sz="1100" b="0">
                <a:solidFill>
                  <a:srgbClr val="0F172A"/>
                </a:solidFill>
                <a:latin typeface="Arial"/>
              </a:rPr>
              <a:t>Investigators propose blocklist entries; supervisors enact them</a:t>
            </a:r>
          </a:p>
        </p:txBody>
      </p:sp>
      <p:sp>
        <p:nvSpPr>
          <p:cNvPr id="16" name="TextBox 15"/>
          <p:cNvSpPr txBox="1"/>
          <p:nvPr/>
        </p:nvSpPr>
        <p:spPr>
          <a:xfrm>
            <a:off x="6382512" y="2340864"/>
            <a:ext cx="5303520" cy="201168"/>
          </a:xfrm>
          <a:prstGeom prst="rect">
            <a:avLst/>
          </a:prstGeom>
          <a:noFill/>
        </p:spPr>
        <p:txBody>
          <a:bodyPr wrap="square" anchor="t" lIns="0" tIns="0" rIns="0" bIns="0">
            <a:spAutoFit/>
          </a:bodyPr>
          <a:lstStyle/>
          <a:p>
            <a:pPr algn="l">
              <a:lnSpc>
                <a:spcPct val="100000"/>
              </a:lnSpc>
              <a:spcAft>
                <a:spcPts val="0"/>
              </a:spcAft>
            </a:pPr>
            <a:r>
              <a:rPr sz="900" b="1">
                <a:solidFill>
                  <a:srgbClr val="1D4ED8"/>
                </a:solidFill>
                <a:latin typeface="Arial"/>
              </a:rPr>
              <a:t>FOUR THINGS THAT MAKE IT CHECKABLE</a:t>
            </a:r>
          </a:p>
        </p:txBody>
      </p:sp>
      <p:sp>
        <p:nvSpPr>
          <p:cNvPr id="17" name="Rounded Rectangle 16"/>
          <p:cNvSpPr/>
          <p:nvPr/>
        </p:nvSpPr>
        <p:spPr>
          <a:xfrm>
            <a:off x="6382512" y="2596896"/>
            <a:ext cx="5303520" cy="859536"/>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tIns="109728" rIns="128016" bIns="91440"/>
          <a:lstStyle/>
          <a:p>
            <a:pPr algn="l">
              <a:lnSpc>
                <a:spcPct val="100000"/>
              </a:lnSpc>
              <a:spcAft>
                <a:spcPts val="400"/>
              </a:spcAft>
            </a:pPr>
            <a:r>
              <a:rPr sz="1150" b="1">
                <a:solidFill>
                  <a:srgbClr val="0F172A"/>
                </a:solidFill>
                <a:latin typeface="Arial"/>
              </a:rPr>
              <a:t>Two scores, side by side</a:t>
            </a:r>
          </a:p>
          <a:p>
            <a:pPr algn="l">
              <a:lnSpc>
                <a:spcPct val="112000"/>
              </a:lnSpc>
              <a:spcAft>
                <a:spcPts val="0"/>
              </a:spcAft>
            </a:pPr>
            <a:r>
              <a:rPr sz="1000" b="0">
                <a:solidFill>
                  <a:srgbClr val="64748B"/>
                </a:solidFill>
                <a:latin typeface="Arial"/>
              </a:rPr>
              <a:t>The deterministic rule score next to the AI score — the gap is always visible.</a:t>
            </a:r>
          </a:p>
        </p:txBody>
      </p:sp>
      <p:sp>
        <p:nvSpPr>
          <p:cNvPr id="18" name="Rounded Rectangle 17"/>
          <p:cNvSpPr/>
          <p:nvPr/>
        </p:nvSpPr>
        <p:spPr>
          <a:xfrm>
            <a:off x="6382512" y="3538728"/>
            <a:ext cx="5303520" cy="859536"/>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tIns="109728" rIns="128016" bIns="91440"/>
          <a:lstStyle/>
          <a:p>
            <a:pPr algn="l">
              <a:lnSpc>
                <a:spcPct val="100000"/>
              </a:lnSpc>
              <a:spcAft>
                <a:spcPts val="400"/>
              </a:spcAft>
            </a:pPr>
            <a:r>
              <a:rPr sz="1150" b="1">
                <a:solidFill>
                  <a:srgbClr val="0F172A"/>
                </a:solidFill>
                <a:latin typeface="Arial"/>
              </a:rPr>
              <a:t>Citations you can reject</a:t>
            </a:r>
          </a:p>
          <a:p>
            <a:pPr algn="l">
              <a:lnSpc>
                <a:spcPct val="112000"/>
              </a:lnSpc>
              <a:spcAft>
                <a:spcPts val="0"/>
              </a:spcAft>
            </a:pPr>
            <a:r>
              <a:rPr sz="1000" b="0">
                <a:solidFill>
                  <a:srgbClr val="64748B"/>
                </a:solidFill>
                <a:latin typeface="Arial"/>
              </a:rPr>
              <a:t>Every indicator names its field and value. Accept ✓ or reject ✗; a rejected finding is not re-asserted.</a:t>
            </a:r>
          </a:p>
        </p:txBody>
      </p:sp>
      <p:sp>
        <p:nvSpPr>
          <p:cNvPr id="19" name="Rounded Rectangle 18"/>
          <p:cNvSpPr/>
          <p:nvPr/>
        </p:nvSpPr>
        <p:spPr>
          <a:xfrm>
            <a:off x="6382512" y="4480560"/>
            <a:ext cx="5303520" cy="859536"/>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tIns="109728" rIns="128016" bIns="91440"/>
          <a:lstStyle/>
          <a:p>
            <a:pPr algn="l">
              <a:lnSpc>
                <a:spcPct val="100000"/>
              </a:lnSpc>
              <a:spcAft>
                <a:spcPts val="400"/>
              </a:spcAft>
            </a:pPr>
            <a:r>
              <a:rPr sz="1150" b="1">
                <a:solidFill>
                  <a:srgbClr val="0F172A"/>
                </a:solidFill>
                <a:latin typeface="Arial"/>
              </a:rPr>
              <a:t>The whole trace is open</a:t>
            </a:r>
          </a:p>
          <a:p>
            <a:pPr algn="l">
              <a:lnSpc>
                <a:spcPct val="112000"/>
              </a:lnSpc>
              <a:spcAft>
                <a:spcPts val="0"/>
              </a:spcAft>
            </a:pPr>
            <a:r>
              <a:rPr sz="1000" b="0">
                <a:solidFill>
                  <a:srgbClr val="64748B"/>
                </a:solidFill>
                <a:latin typeface="Arial"/>
              </a:rPr>
              <a:t>Which specialists ran, what the challenger argued, what the guardrails removed — and what it cost.</a:t>
            </a:r>
          </a:p>
        </p:txBody>
      </p:sp>
      <p:sp>
        <p:nvSpPr>
          <p:cNvPr id="20" name="Rounded Rectangle 19"/>
          <p:cNvSpPr/>
          <p:nvPr/>
        </p:nvSpPr>
        <p:spPr>
          <a:xfrm>
            <a:off x="6382512" y="5422392"/>
            <a:ext cx="5303520" cy="859536"/>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tIns="109728" rIns="128016" bIns="91440"/>
          <a:lstStyle/>
          <a:p>
            <a:pPr algn="l">
              <a:lnSpc>
                <a:spcPct val="100000"/>
              </a:lnSpc>
              <a:spcAft>
                <a:spcPts val="400"/>
              </a:spcAft>
            </a:pPr>
            <a:r>
              <a:rPr sz="1150" b="1">
                <a:solidFill>
                  <a:srgbClr val="0F172A"/>
                </a:solidFill>
                <a:latin typeface="Arial"/>
              </a:rPr>
              <a:t>A reason on every action</a:t>
            </a:r>
          </a:p>
          <a:p>
            <a:pPr algn="l">
              <a:lnSpc>
                <a:spcPct val="112000"/>
              </a:lnSpc>
              <a:spcAft>
                <a:spcPts val="0"/>
              </a:spcAft>
            </a:pPr>
            <a:r>
              <a:rPr sz="1000" b="0">
                <a:solidFill>
                  <a:srgbClr val="64748B"/>
                </a:solidFill>
                <a:latin typeface="Arial"/>
              </a:rPr>
              <a:t>Clears, escalations and overrides all require a written reason and land in the audit 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